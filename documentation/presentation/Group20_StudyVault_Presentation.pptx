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C86"/>
    <a:srgbClr val="15233B"/>
    <a:srgbClr val="F2A93B"/>
    <a:srgbClr val="15233C"/>
    <a:srgbClr val="3743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88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confident intro. Name the app and give the one-line pitch: 'StudyVault is a mobile app that helps students centralize their study materials and understand them faster using AI.' Don't linger here — move straight to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in something relatable: everyone has lost a lecture PDF in a WhatsApp chat at 11pm before an exam. This is the 'real-world problem' the guidelines require — spend real time here, it's your strongest hook and it's explicitly graded.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slide. Connect each objective back to a problem from the previous slide — one objective per problem, so it reads as intentional design, not a checklist.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from 'why' to 'what we built.' Walk through the flow diagram left to right — don't re-explain the problem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talking point: 'We use a hybrid storage model — Firestore holds structured metadata (titles, pin status, summaries, folder membership), while actual PDF/image files stay in local on-device storage via expo-file-system. This keeps us within Firebase's free tier and avoids an upload/download round-trip just to open a file you already have.' This one sentence pre-empts the 'why not Firebase Storage for everything' question.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why dark mode isn't just cosmetic — centralized color tokens instead of hardcoded hex values scattered across 9 screens. Shows maintainable architecture thinking.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Name-drop the actual Firestore operations briefly — shows you understand it, not just followed a tutorial. Also mention try/catch + user-facing Alert on every call, never a raw crash.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slide — give it real time. Say: 'We deliberately chose to send the raw file straight to Gemini instead of using a separate OCR or PDF-text-extraction library. Expo Go can't run those native modules without ejecting to a custom dev build. Gemini 2.5 Flash reads PDFs and images natively as part of the same request that generates the summary, so extraction and understanding happen in one API call, with zero native dependencies. We also enforce a strict JSON response schema rather than asking for formatted text — a real API feature, not just prompt engineering — so the output is always structurally reliable.'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reusing the same architecture pattern as summarization — shows a designed system. Mention it keeps you well within Gemini's free tier since summary text is much smaller than a whole PDF.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demonstrate polish and non-functional requirements. Call out explicitly that you tested and handled failure states, not just the happy path.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Q&amp;A pre-emption device — examiners often probe for 'what went wrong / what did you learn.' Answer it before they ask.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phone/screen mirror here. Demo order: Register/Login (fast) -&gt; Home screen (notes, folders, theme toggle, search) -&gt; Upload a note -&gt; Summarize live (narrate what's happening while it loads) -&gt; show structured summary -&gt; generate quiz -&gt; pin/folder a note -&gt; share or download summary. Safety net: keep one pre-made note with an existing summary ready in case a live Gemini call is slow or rate-limited — use a fresh note for the live call but flip to the backup instantly if needed. Narrate every tap out loud. If an error state appears, say: 'That's actually one of the failure states we explicitly handle — a friendly message instead of a crash,' and move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confident — 20 seconds max. Shows awareness of scope boundaries, not a weakness.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only now, after the demo. If asked something you genuinely don't know, say 'That's something we'd look at extending in future work' rather than guessing — a confident, honest answer reads far better than an incorrect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10532745" y="-1472565"/>
            <a:ext cx="4754880" cy="4754880"/>
          </a:xfrm>
          <a:prstGeom prst="ellipse">
            <a:avLst/>
          </a:prstGeom>
          <a:solidFill>
            <a:srgbClr val="1E2F52"/>
          </a:solidFill>
          <a:ln/>
        </p:spPr>
        <p:txBody>
          <a:bodyPr/>
          <a:lstStyle/>
          <a:p>
            <a:endParaRPr lang="en-US"/>
          </a:p>
        </p:txBody>
      </p:sp>
      <p:sp>
        <p:nvSpPr>
          <p:cNvPr id="3" name="Shape 1"/>
          <p:cNvSpPr/>
          <p:nvPr/>
        </p:nvSpPr>
        <p:spPr>
          <a:xfrm>
            <a:off x="-1645920" y="4389120"/>
            <a:ext cx="3840480" cy="3840480"/>
          </a:xfrm>
          <a:prstGeom prst="ellipse">
            <a:avLst/>
          </a:prstGeom>
          <a:solidFill>
            <a:srgbClr val="1E2F52"/>
          </a:solidFill>
          <a:ln/>
        </p:spPr>
        <p:txBody>
          <a:bodyPr/>
          <a:lstStyle/>
          <a:p>
            <a:endParaRPr lang="en-US"/>
          </a:p>
        </p:txBody>
      </p:sp>
      <p:grpSp>
        <p:nvGrpSpPr>
          <p:cNvPr id="19" name="Group 18">
            <a:extLst>
              <a:ext uri="{FF2B5EF4-FFF2-40B4-BE49-F238E27FC236}">
                <a16:creationId xmlns:a16="http://schemas.microsoft.com/office/drawing/2014/main" id="{FFD28748-6975-E0AE-26FD-C02B95ABA6BC}"/>
              </a:ext>
            </a:extLst>
          </p:cNvPr>
          <p:cNvGrpSpPr/>
          <p:nvPr/>
        </p:nvGrpSpPr>
        <p:grpSpPr>
          <a:xfrm>
            <a:off x="3464242" y="2453925"/>
            <a:ext cx="1218390" cy="1218390"/>
            <a:chOff x="822960" y="731520"/>
            <a:chExt cx="822960" cy="822960"/>
          </a:xfrm>
        </p:grpSpPr>
        <p:sp>
          <p:nvSpPr>
            <p:cNvPr id="4" name="Shape 2"/>
            <p:cNvSpPr/>
            <p:nvPr/>
          </p:nvSpPr>
          <p:spPr>
            <a:xfrm>
              <a:off x="822960" y="731520"/>
              <a:ext cx="822960" cy="822960"/>
            </a:xfrm>
            <a:prstGeom prst="ellipse">
              <a:avLst/>
            </a:prstGeom>
            <a:solidFill>
              <a:srgbClr val="0E7C86"/>
            </a:solidFill>
            <a:ln/>
          </p:spPr>
          <p:txBody>
            <a:bodyPr/>
            <a:lstStyle/>
            <a:p>
              <a:endParaRPr lang="en-US"/>
            </a:p>
          </p:txBody>
        </p:sp>
        <p:pic>
          <p:nvPicPr>
            <p:cNvPr id="5" name="Image 0" descr="icons/grad_white.png"/>
            <p:cNvPicPr>
              <a:picLocks noChangeAspect="1"/>
            </p:cNvPicPr>
            <p:nvPr/>
          </p:nvPicPr>
          <p:blipFill>
            <a:blip r:embed="rId3"/>
            <a:stretch>
              <a:fillRect/>
            </a:stretch>
          </p:blipFill>
          <p:spPr>
            <a:xfrm>
              <a:off x="1036930" y="945490"/>
              <a:ext cx="395021" cy="395021"/>
            </a:xfrm>
            <a:prstGeom prst="rect">
              <a:avLst/>
            </a:prstGeom>
          </p:spPr>
        </p:pic>
      </p:grpSp>
      <p:sp>
        <p:nvSpPr>
          <p:cNvPr id="6" name="Text 3"/>
          <p:cNvSpPr/>
          <p:nvPr/>
        </p:nvSpPr>
        <p:spPr>
          <a:xfrm>
            <a:off x="3966210" y="1864995"/>
            <a:ext cx="6613208" cy="320040"/>
          </a:xfrm>
          <a:prstGeom prst="rect">
            <a:avLst/>
          </a:prstGeom>
          <a:noFill/>
          <a:ln/>
        </p:spPr>
        <p:txBody>
          <a:bodyPr wrap="square" rtlCol="0" anchor="ctr"/>
          <a:lstStyle/>
          <a:p>
            <a:r>
              <a:rPr lang="en-US" b="1" kern="0" spc="200" dirty="0">
                <a:solidFill>
                  <a:srgbClr val="F2A93B"/>
                </a:solidFill>
                <a:latin typeface="Calibri" pitchFamily="34" charset="0"/>
                <a:ea typeface="Calibri" pitchFamily="34" charset="-122"/>
                <a:cs typeface="Calibri" pitchFamily="34" charset="-120"/>
              </a:rPr>
              <a:t>CCS3102 | CSE3102 · MOBILE COMPUTING · Group 20</a:t>
            </a:r>
            <a:endParaRPr lang="en-US" dirty="0"/>
          </a:p>
        </p:txBody>
      </p:sp>
      <p:sp>
        <p:nvSpPr>
          <p:cNvPr id="7" name="Text 4"/>
          <p:cNvSpPr/>
          <p:nvPr/>
        </p:nvSpPr>
        <p:spPr>
          <a:xfrm>
            <a:off x="4835842" y="2535840"/>
            <a:ext cx="4025265"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StudyVault</a:t>
            </a:r>
            <a:endParaRPr lang="en-US" sz="6000" dirty="0"/>
          </a:p>
        </p:txBody>
      </p:sp>
      <p:sp>
        <p:nvSpPr>
          <p:cNvPr id="8" name="Text 5"/>
          <p:cNvSpPr/>
          <p:nvPr/>
        </p:nvSpPr>
        <p:spPr>
          <a:xfrm>
            <a:off x="3330892" y="3835050"/>
            <a:ext cx="5530215" cy="502920"/>
          </a:xfrm>
          <a:prstGeom prst="rect">
            <a:avLst/>
          </a:prstGeom>
          <a:noFill/>
          <a:ln/>
        </p:spPr>
        <p:txBody>
          <a:bodyPr wrap="square" rtlCol="0" anchor="ctr"/>
          <a:lstStyle/>
          <a:p>
            <a:pPr marL="0" indent="0">
              <a:buNone/>
            </a:pPr>
            <a:r>
              <a:rPr lang="en-US" sz="2000" i="1" dirty="0">
                <a:solidFill>
                  <a:srgbClr val="CFE8EA"/>
                </a:solidFill>
                <a:latin typeface="Calibri" pitchFamily="34" charset="0"/>
                <a:ea typeface="Calibri" pitchFamily="34" charset="-122"/>
                <a:cs typeface="Calibri" pitchFamily="34" charset="-120"/>
              </a:rPr>
              <a:t>An AI-Powered Study Material Organizer for Mobile</a:t>
            </a:r>
            <a:endParaRPr lang="en-US" sz="2000" dirty="0"/>
          </a:p>
        </p:txBody>
      </p:sp>
      <p:pic>
        <p:nvPicPr>
          <p:cNvPr id="18" name="Picture 17">
            <a:extLst>
              <a:ext uri="{FF2B5EF4-FFF2-40B4-BE49-F238E27FC236}">
                <a16:creationId xmlns:a16="http://schemas.microsoft.com/office/drawing/2014/main" id="{3CE5EEA3-09A5-84ED-8BE2-D7C55A66018B}"/>
              </a:ext>
            </a:extLst>
          </p:cNvPr>
          <p:cNvPicPr>
            <a:picLocks noChangeAspect="1"/>
          </p:cNvPicPr>
          <p:nvPr/>
        </p:nvPicPr>
        <p:blipFill>
          <a:blip r:embed="rId4"/>
          <a:stretch>
            <a:fillRect/>
          </a:stretch>
        </p:blipFill>
        <p:spPr>
          <a:xfrm>
            <a:off x="2704147" y="564690"/>
            <a:ext cx="7667625" cy="1218390"/>
          </a:xfrm>
          <a:prstGeom prst="rect">
            <a:avLst/>
          </a:prstGeom>
        </p:spPr>
      </p:pic>
      <p:cxnSp>
        <p:nvCxnSpPr>
          <p:cNvPr id="23" name="Straight Connector 22">
            <a:extLst>
              <a:ext uri="{FF2B5EF4-FFF2-40B4-BE49-F238E27FC236}">
                <a16:creationId xmlns:a16="http://schemas.microsoft.com/office/drawing/2014/main" id="{BC4208D0-5DCD-57F9-5DA1-B4193AD2271C}"/>
              </a:ext>
            </a:extLst>
          </p:cNvPr>
          <p:cNvCxnSpPr/>
          <p:nvPr/>
        </p:nvCxnSpPr>
        <p:spPr>
          <a:xfrm>
            <a:off x="4038600" y="1783080"/>
            <a:ext cx="6418897"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8D0F0192-728C-AE5B-91B0-07A3FD10124E}"/>
              </a:ext>
            </a:extLst>
          </p:cNvPr>
          <p:cNvGrpSpPr/>
          <p:nvPr/>
        </p:nvGrpSpPr>
        <p:grpSpPr>
          <a:xfrm>
            <a:off x="822959" y="5029200"/>
            <a:ext cx="10742723" cy="1188720"/>
            <a:chOff x="822959" y="5029200"/>
            <a:chExt cx="10197465" cy="1188720"/>
          </a:xfrm>
        </p:grpSpPr>
        <p:sp>
          <p:nvSpPr>
            <p:cNvPr id="9" name="Shape 6"/>
            <p:cNvSpPr>
              <a:spLocks/>
            </p:cNvSpPr>
            <p:nvPr/>
          </p:nvSpPr>
          <p:spPr>
            <a:xfrm>
              <a:off x="822959" y="5029200"/>
              <a:ext cx="10197465" cy="1188720"/>
            </a:xfrm>
            <a:prstGeom prst="roundRect">
              <a:avLst/>
            </a:prstGeom>
            <a:solidFill>
              <a:schemeClr val="bg1">
                <a:lumMod val="95000"/>
              </a:schemeClr>
            </a:solidFill>
            <a:ln/>
            <a:effectLst>
              <a:outerShdw blurRad="101600" dist="38100" dir="5400000" algn="bl" rotWithShape="0">
                <a:srgbClr val="000000">
                  <a:alpha val="12000"/>
                </a:srgbClr>
              </a:outerShdw>
            </a:effectLst>
          </p:spPr>
          <p:txBody>
            <a:bodyPr/>
            <a:lstStyle/>
            <a:p>
              <a:endParaRPr lang="en-US"/>
            </a:p>
          </p:txBody>
        </p:sp>
        <p:sp>
          <p:nvSpPr>
            <p:cNvPr id="11" name="Text 8"/>
            <p:cNvSpPr/>
            <p:nvPr/>
          </p:nvSpPr>
          <p:spPr>
            <a:xfrm>
              <a:off x="996314" y="5265180"/>
              <a:ext cx="2396491" cy="722805"/>
            </a:xfrm>
            <a:prstGeom prst="rect">
              <a:avLst/>
            </a:prstGeom>
            <a:noFill/>
            <a:ln/>
          </p:spPr>
          <p:txBody>
            <a:bodyPr wrap="square" rtlCol="0" anchor="ctr"/>
            <a:lstStyle/>
            <a:p>
              <a:pPr algn="ctr">
                <a:lnSpc>
                  <a:spcPct val="120000"/>
                </a:lnSpc>
              </a:pPr>
              <a:r>
                <a:rPr lang="en-US" sz="2400" b="1" dirty="0">
                  <a:solidFill>
                    <a:srgbClr val="15233B"/>
                  </a:solidFill>
                  <a:latin typeface="Cambria" panose="02040503050406030204" pitchFamily="18" charset="0"/>
                  <a:ea typeface="Cambria" panose="02040503050406030204" pitchFamily="18" charset="0"/>
                  <a:cs typeface="Calibri" pitchFamily="34" charset="-120"/>
                </a:rPr>
                <a:t>M. A. O. Rodrigo </a:t>
              </a:r>
            </a:p>
            <a:p>
              <a:pPr algn="ctr">
                <a:lnSpc>
                  <a:spcPct val="120000"/>
                </a:lnSpc>
              </a:pPr>
              <a:r>
                <a:rPr lang="en-US" sz="2400" b="1" dirty="0">
                  <a:solidFill>
                    <a:srgbClr val="15233B"/>
                  </a:solidFill>
                  <a:latin typeface="Cambria" panose="02040503050406030204" pitchFamily="18" charset="0"/>
                  <a:ea typeface="Cambria" panose="02040503050406030204" pitchFamily="18" charset="0"/>
                  <a:cs typeface="Calibri" pitchFamily="34" charset="-120"/>
                </a:rPr>
                <a:t>FC221019</a:t>
              </a:r>
            </a:p>
          </p:txBody>
        </p:sp>
        <p:sp>
          <p:nvSpPr>
            <p:cNvPr id="25" name="Text 8">
              <a:extLst>
                <a:ext uri="{FF2B5EF4-FFF2-40B4-BE49-F238E27FC236}">
                  <a16:creationId xmlns:a16="http://schemas.microsoft.com/office/drawing/2014/main" id="{F48FAA57-C7FC-BBD4-1BDA-C38539A1F582}"/>
                </a:ext>
              </a:extLst>
            </p:cNvPr>
            <p:cNvSpPr/>
            <p:nvPr/>
          </p:nvSpPr>
          <p:spPr>
            <a:xfrm>
              <a:off x="3956002" y="5265180"/>
              <a:ext cx="3179215" cy="722805"/>
            </a:xfrm>
            <a:prstGeom prst="rect">
              <a:avLst/>
            </a:prstGeom>
            <a:noFill/>
            <a:ln/>
          </p:spPr>
          <p:txBody>
            <a:bodyPr wrap="square" rtlCol="0" anchor="ctr"/>
            <a:lstStyle/>
            <a:p>
              <a:pPr algn="ctr">
                <a:lnSpc>
                  <a:spcPct val="120000"/>
                </a:lnSpc>
              </a:pPr>
              <a:r>
                <a:rPr lang="en-US" sz="2400" b="1" dirty="0">
                  <a:solidFill>
                    <a:srgbClr val="15233B"/>
                  </a:solidFill>
                  <a:latin typeface="Cambria" panose="02040503050406030204" pitchFamily="18" charset="0"/>
                  <a:ea typeface="Cambria" panose="02040503050406030204" pitchFamily="18" charset="0"/>
                  <a:cs typeface="Calibri" pitchFamily="34" charset="-120"/>
                </a:rPr>
                <a:t>T. G. </a:t>
              </a:r>
              <a:r>
                <a:rPr lang="en-US" sz="2400" b="1" dirty="0" err="1">
                  <a:solidFill>
                    <a:srgbClr val="15233B"/>
                  </a:solidFill>
                  <a:latin typeface="Cambria" panose="02040503050406030204" pitchFamily="18" charset="0"/>
                  <a:ea typeface="Cambria" panose="02040503050406030204" pitchFamily="18" charset="0"/>
                  <a:cs typeface="Calibri" pitchFamily="34" charset="-120"/>
                </a:rPr>
                <a:t>Kithmi</a:t>
              </a:r>
              <a:r>
                <a:rPr lang="en-US" sz="2400" b="1" dirty="0">
                  <a:solidFill>
                    <a:srgbClr val="15233B"/>
                  </a:solidFill>
                  <a:latin typeface="Cambria" panose="02040503050406030204" pitchFamily="18" charset="0"/>
                  <a:ea typeface="Cambria" panose="02040503050406030204" pitchFamily="18" charset="0"/>
                  <a:cs typeface="Calibri" pitchFamily="34" charset="-120"/>
                </a:rPr>
                <a:t> </a:t>
              </a:r>
              <a:r>
                <a:rPr lang="en-US" sz="2400" b="1" dirty="0" err="1">
                  <a:solidFill>
                    <a:srgbClr val="15233B"/>
                  </a:solidFill>
                  <a:latin typeface="Cambria" panose="02040503050406030204" pitchFamily="18" charset="0"/>
                  <a:ea typeface="Cambria" panose="02040503050406030204" pitchFamily="18" charset="0"/>
                  <a:cs typeface="Calibri" pitchFamily="34" charset="-120"/>
                </a:rPr>
                <a:t>Pabodha</a:t>
              </a:r>
              <a:endParaRPr lang="en-US" sz="2400" b="1" dirty="0">
                <a:solidFill>
                  <a:srgbClr val="15233B"/>
                </a:solidFill>
                <a:latin typeface="Cambria" panose="02040503050406030204" pitchFamily="18" charset="0"/>
                <a:ea typeface="Cambria" panose="02040503050406030204" pitchFamily="18" charset="0"/>
                <a:cs typeface="Calibri" pitchFamily="34" charset="-120"/>
              </a:endParaRPr>
            </a:p>
            <a:p>
              <a:pPr algn="ctr">
                <a:lnSpc>
                  <a:spcPct val="120000"/>
                </a:lnSpc>
              </a:pPr>
              <a:r>
                <a:rPr lang="en-US" sz="2400" b="1" dirty="0">
                  <a:solidFill>
                    <a:srgbClr val="15233B"/>
                  </a:solidFill>
                  <a:latin typeface="Cambria" panose="02040503050406030204" pitchFamily="18" charset="0"/>
                  <a:ea typeface="Cambria" panose="02040503050406030204" pitchFamily="18" charset="0"/>
                  <a:cs typeface="Calibri" pitchFamily="34" charset="-120"/>
                </a:rPr>
                <a:t>FC222051</a:t>
              </a:r>
            </a:p>
          </p:txBody>
        </p:sp>
        <p:sp>
          <p:nvSpPr>
            <p:cNvPr id="26" name="Text 8">
              <a:extLst>
                <a:ext uri="{FF2B5EF4-FFF2-40B4-BE49-F238E27FC236}">
                  <a16:creationId xmlns:a16="http://schemas.microsoft.com/office/drawing/2014/main" id="{DBD941B3-994D-3D0D-D80D-0A668F53A185}"/>
                </a:ext>
              </a:extLst>
            </p:cNvPr>
            <p:cNvSpPr/>
            <p:nvPr/>
          </p:nvSpPr>
          <p:spPr>
            <a:xfrm>
              <a:off x="7700721" y="5242034"/>
              <a:ext cx="3179215" cy="722805"/>
            </a:xfrm>
            <a:prstGeom prst="rect">
              <a:avLst/>
            </a:prstGeom>
            <a:noFill/>
            <a:ln/>
          </p:spPr>
          <p:txBody>
            <a:bodyPr wrap="square" rtlCol="0" anchor="ctr"/>
            <a:lstStyle/>
            <a:p>
              <a:pPr algn="ctr">
                <a:lnSpc>
                  <a:spcPct val="120000"/>
                </a:lnSpc>
              </a:pPr>
              <a:r>
                <a:rPr lang="en-US" sz="2400" b="1" dirty="0">
                  <a:solidFill>
                    <a:srgbClr val="15233B"/>
                  </a:solidFill>
                  <a:latin typeface="Cambria" panose="02040503050406030204" pitchFamily="18" charset="0"/>
                  <a:ea typeface="Cambria" panose="02040503050406030204" pitchFamily="18" charset="0"/>
                  <a:cs typeface="Calibri" pitchFamily="34" charset="-120"/>
                </a:rPr>
                <a:t>M. D. C. E. Gunathilaka </a:t>
              </a:r>
            </a:p>
            <a:p>
              <a:pPr algn="ctr">
                <a:lnSpc>
                  <a:spcPct val="120000"/>
                </a:lnSpc>
              </a:pPr>
              <a:r>
                <a:rPr lang="en-US" sz="2400" b="1" dirty="0">
                  <a:solidFill>
                    <a:srgbClr val="15233B"/>
                  </a:solidFill>
                  <a:latin typeface="Cambria" panose="02040503050406030204" pitchFamily="18" charset="0"/>
                  <a:ea typeface="Cambria" panose="02040503050406030204" pitchFamily="18" charset="0"/>
                  <a:cs typeface="Calibri" pitchFamily="34" charset="-120"/>
                </a:rPr>
                <a:t>FC222044</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folder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WHY THIS APP IS NEEDED</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The Problem Students Actually Face</a:t>
            </a:r>
            <a:endParaRPr lang="en-US" sz="3000" dirty="0"/>
          </a:p>
        </p:txBody>
      </p:sp>
      <p:sp>
        <p:nvSpPr>
          <p:cNvPr id="6" name="Shape 3"/>
          <p:cNvSpPr>
            <a:spLocks noGrp="1" noRot="1" noMove="1" noResize="1" noEditPoints="1" noAdjustHandles="1" noChangeArrowheads="1" noChangeShapeType="1"/>
          </p:cNvSpPr>
          <p:nvPr/>
        </p:nvSpPr>
        <p:spPr>
          <a:xfrm>
            <a:off x="502920" y="1417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7" name="Shape 4"/>
          <p:cNvSpPr/>
          <p:nvPr/>
        </p:nvSpPr>
        <p:spPr>
          <a:xfrm>
            <a:off x="777240" y="1691640"/>
            <a:ext cx="457200" cy="457200"/>
          </a:xfrm>
          <a:prstGeom prst="ellipse">
            <a:avLst/>
          </a:prstGeom>
          <a:solidFill>
            <a:srgbClr val="15233B"/>
          </a:solidFill>
          <a:ln/>
        </p:spPr>
        <p:txBody>
          <a:bodyPr/>
          <a:lstStyle/>
          <a:p>
            <a:endParaRPr lang="en-US"/>
          </a:p>
        </p:txBody>
      </p:sp>
      <p:sp>
        <p:nvSpPr>
          <p:cNvPr id="8" name="Text 5"/>
          <p:cNvSpPr/>
          <p:nvPr/>
        </p:nvSpPr>
        <p:spPr>
          <a:xfrm>
            <a:off x="777240" y="1691640"/>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1371600" y="1673352"/>
            <a:ext cx="3977640" cy="41148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Materials Are Scattered</a:t>
            </a:r>
            <a:endParaRPr lang="en-US" sz="2000" dirty="0"/>
          </a:p>
        </p:txBody>
      </p:sp>
      <p:sp>
        <p:nvSpPr>
          <p:cNvPr id="10" name="Text 7"/>
          <p:cNvSpPr/>
          <p:nvPr/>
        </p:nvSpPr>
        <p:spPr>
          <a:xfrm>
            <a:off x="777240" y="2240280"/>
            <a:ext cx="4526280" cy="96012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PDFs, slides, and photographed handwritten notes spread across WhatsApp, Google Drive and local storage.</a:t>
            </a:r>
            <a:endParaRPr lang="en-US" dirty="0">
              <a:latin typeface="Cambria" panose="02040503050406030204" pitchFamily="18" charset="0"/>
              <a:ea typeface="Cambria" panose="02040503050406030204" pitchFamily="18" charset="0"/>
            </a:endParaRPr>
          </a:p>
        </p:txBody>
      </p:sp>
      <p:sp>
        <p:nvSpPr>
          <p:cNvPr id="11" name="Shape 8"/>
          <p:cNvSpPr>
            <a:spLocks noGrp="1" noRot="1" noMove="1" noResize="1" noEditPoints="1" noAdjustHandles="1" noChangeArrowheads="1" noChangeShapeType="1"/>
          </p:cNvSpPr>
          <p:nvPr/>
        </p:nvSpPr>
        <p:spPr>
          <a:xfrm>
            <a:off x="6035040" y="1417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2" name="Shape 9"/>
          <p:cNvSpPr/>
          <p:nvPr/>
        </p:nvSpPr>
        <p:spPr>
          <a:xfrm>
            <a:off x="6309360" y="1691640"/>
            <a:ext cx="457200" cy="457200"/>
          </a:xfrm>
          <a:prstGeom prst="ellipse">
            <a:avLst/>
          </a:prstGeom>
          <a:solidFill>
            <a:srgbClr val="15233B"/>
          </a:solidFill>
          <a:ln/>
        </p:spPr>
        <p:txBody>
          <a:bodyPr/>
          <a:lstStyle/>
          <a:p>
            <a:endParaRPr lang="en-US"/>
          </a:p>
        </p:txBody>
      </p:sp>
      <p:sp>
        <p:nvSpPr>
          <p:cNvPr id="13" name="Text 10"/>
          <p:cNvSpPr/>
          <p:nvPr/>
        </p:nvSpPr>
        <p:spPr>
          <a:xfrm>
            <a:off x="6309360" y="1691640"/>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2</a:t>
            </a:r>
            <a:endParaRPr lang="en-US" sz="1800" dirty="0"/>
          </a:p>
        </p:txBody>
      </p:sp>
      <p:sp>
        <p:nvSpPr>
          <p:cNvPr id="14" name="Text 11"/>
          <p:cNvSpPr/>
          <p:nvPr/>
        </p:nvSpPr>
        <p:spPr>
          <a:xfrm>
            <a:off x="6903720" y="1673352"/>
            <a:ext cx="3977640" cy="41148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Disorganized &amp; Duplicated</a:t>
            </a:r>
            <a:endParaRPr lang="en-US" sz="2000" dirty="0"/>
          </a:p>
        </p:txBody>
      </p:sp>
      <p:sp>
        <p:nvSpPr>
          <p:cNvPr id="15" name="Text 12"/>
          <p:cNvSpPr/>
          <p:nvPr/>
        </p:nvSpPr>
        <p:spPr>
          <a:xfrm>
            <a:off x="6309360" y="2240280"/>
            <a:ext cx="4526280" cy="96012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No centralized structure means poorly named, scattered, duplicated files that are hard to relocate.</a:t>
            </a:r>
            <a:endParaRPr lang="en-US" dirty="0">
              <a:latin typeface="Cambria" panose="02040503050406030204" pitchFamily="18" charset="0"/>
              <a:ea typeface="Cambria" panose="02040503050406030204" pitchFamily="18" charset="0"/>
            </a:endParaRPr>
          </a:p>
        </p:txBody>
      </p:sp>
      <p:sp>
        <p:nvSpPr>
          <p:cNvPr id="16" name="Shape 13"/>
          <p:cNvSpPr>
            <a:spLocks noGrp="1" noRot="1" noMove="1" noResize="1" noEditPoints="1" noAdjustHandles="1" noChangeArrowheads="1" noChangeShapeType="1"/>
          </p:cNvSpPr>
          <p:nvPr/>
        </p:nvSpPr>
        <p:spPr>
          <a:xfrm>
            <a:off x="502920" y="3703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7" name="Shape 14"/>
          <p:cNvSpPr/>
          <p:nvPr/>
        </p:nvSpPr>
        <p:spPr>
          <a:xfrm>
            <a:off x="777240" y="3977640"/>
            <a:ext cx="457200" cy="457200"/>
          </a:xfrm>
          <a:prstGeom prst="ellipse">
            <a:avLst/>
          </a:prstGeom>
          <a:solidFill>
            <a:srgbClr val="15233B"/>
          </a:solidFill>
          <a:ln/>
        </p:spPr>
        <p:txBody>
          <a:bodyPr/>
          <a:lstStyle/>
          <a:p>
            <a:endParaRPr lang="en-US"/>
          </a:p>
        </p:txBody>
      </p:sp>
      <p:sp>
        <p:nvSpPr>
          <p:cNvPr id="18" name="Text 15"/>
          <p:cNvSpPr/>
          <p:nvPr/>
        </p:nvSpPr>
        <p:spPr>
          <a:xfrm>
            <a:off x="777240" y="3977640"/>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3</a:t>
            </a:r>
            <a:endParaRPr lang="en-US" sz="1800" dirty="0"/>
          </a:p>
        </p:txBody>
      </p:sp>
      <p:sp>
        <p:nvSpPr>
          <p:cNvPr id="19" name="Text 16"/>
          <p:cNvSpPr/>
          <p:nvPr/>
        </p:nvSpPr>
        <p:spPr>
          <a:xfrm>
            <a:off x="1371600" y="3959352"/>
            <a:ext cx="3977640" cy="41148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Critical During Exams</a:t>
            </a:r>
            <a:endParaRPr lang="en-US" sz="2000" dirty="0"/>
          </a:p>
        </p:txBody>
      </p:sp>
      <p:sp>
        <p:nvSpPr>
          <p:cNvPr id="20" name="Text 17"/>
          <p:cNvSpPr/>
          <p:nvPr/>
        </p:nvSpPr>
        <p:spPr>
          <a:xfrm>
            <a:off x="777240" y="4526280"/>
            <a:ext cx="4526280" cy="96012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Quick access to the right material matters most exactly when students have the least time to search for it.</a:t>
            </a:r>
            <a:endParaRPr lang="en-US" dirty="0">
              <a:latin typeface="Cambria" panose="02040503050406030204" pitchFamily="18" charset="0"/>
              <a:ea typeface="Cambria" panose="02040503050406030204" pitchFamily="18" charset="0"/>
            </a:endParaRPr>
          </a:p>
        </p:txBody>
      </p:sp>
      <p:sp>
        <p:nvSpPr>
          <p:cNvPr id="21" name="Shape 18"/>
          <p:cNvSpPr>
            <a:spLocks noGrp="1" noRot="1" noMove="1" noResize="1" noEditPoints="1" noAdjustHandles="1" noChangeArrowheads="1" noChangeShapeType="1"/>
          </p:cNvSpPr>
          <p:nvPr/>
        </p:nvSpPr>
        <p:spPr>
          <a:xfrm>
            <a:off x="6035040" y="3703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2" name="Shape 19"/>
          <p:cNvSpPr/>
          <p:nvPr/>
        </p:nvSpPr>
        <p:spPr>
          <a:xfrm>
            <a:off x="6309360" y="3977640"/>
            <a:ext cx="457200" cy="457200"/>
          </a:xfrm>
          <a:prstGeom prst="ellipse">
            <a:avLst/>
          </a:prstGeom>
          <a:solidFill>
            <a:srgbClr val="15233B"/>
          </a:solidFill>
          <a:ln/>
        </p:spPr>
        <p:txBody>
          <a:bodyPr/>
          <a:lstStyle/>
          <a:p>
            <a:endParaRPr lang="en-US"/>
          </a:p>
        </p:txBody>
      </p:sp>
      <p:sp>
        <p:nvSpPr>
          <p:cNvPr id="23" name="Text 20"/>
          <p:cNvSpPr/>
          <p:nvPr/>
        </p:nvSpPr>
        <p:spPr>
          <a:xfrm>
            <a:off x="6309360" y="3977640"/>
            <a:ext cx="457200" cy="457200"/>
          </a:xfrm>
          <a:prstGeom prst="rect">
            <a:avLst/>
          </a:prstGeom>
          <a:noFill/>
          <a:ln/>
        </p:spPr>
        <p:txBody>
          <a:bodyPr wrap="square" lIns="0" tIns="0" rIns="0" bIns="0" rtlCol="0" anchor="ctr"/>
          <a:lstStyle/>
          <a:p>
            <a:pPr marL="0" indent="0" algn="ctr">
              <a:buNone/>
            </a:pPr>
            <a:r>
              <a:rPr lang="en-US" sz="1800" b="1" dirty="0">
                <a:solidFill>
                  <a:srgbClr val="F2A93B"/>
                </a:solidFill>
                <a:latin typeface="Cambria" pitchFamily="34" charset="0"/>
                <a:ea typeface="Cambria" pitchFamily="34" charset="-122"/>
                <a:cs typeface="Cambria" pitchFamily="34" charset="-120"/>
              </a:rPr>
              <a:t>4</a:t>
            </a:r>
            <a:endParaRPr lang="en-US" sz="1800" dirty="0"/>
          </a:p>
        </p:txBody>
      </p:sp>
      <p:sp>
        <p:nvSpPr>
          <p:cNvPr id="24" name="Text 21"/>
          <p:cNvSpPr/>
          <p:nvPr/>
        </p:nvSpPr>
        <p:spPr>
          <a:xfrm>
            <a:off x="6903720" y="3959352"/>
            <a:ext cx="3977640" cy="41148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No Intelligent Understanding</a:t>
            </a:r>
            <a:endParaRPr lang="en-US" sz="2000" dirty="0"/>
          </a:p>
        </p:txBody>
      </p:sp>
      <p:sp>
        <p:nvSpPr>
          <p:cNvPr id="25" name="Text 22"/>
          <p:cNvSpPr/>
          <p:nvPr/>
        </p:nvSpPr>
        <p:spPr>
          <a:xfrm>
            <a:off x="6309360" y="4526280"/>
            <a:ext cx="4526280" cy="96012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Existing tools (Drive, plain file managers) only store files — none summarize or prioritize content for you in crucial moments.</a:t>
            </a:r>
            <a:endParaRPr lang="en-US" dirty="0">
              <a:latin typeface="Cambria" panose="02040503050406030204" pitchFamily="18" charset="0"/>
              <a:ea typeface="Cambria" panose="02040503050406030204" pitchFamily="18" charset="0"/>
            </a:endParaRPr>
          </a:p>
        </p:txBody>
      </p:sp>
      <p:sp>
        <p:nvSpPr>
          <p:cNvPr id="26" name="Text 2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02</a:t>
            </a:r>
            <a:endParaRPr lang="en-US" sz="10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target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WHAT STUDYVAULT AIMS TO ACHIEVE</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Project Objectives</a:t>
            </a:r>
            <a:endParaRPr lang="en-US" sz="3000" dirty="0"/>
          </a:p>
        </p:txBody>
      </p:sp>
      <p:sp>
        <p:nvSpPr>
          <p:cNvPr id="6" name="Shape 3"/>
          <p:cNvSpPr/>
          <p:nvPr/>
        </p:nvSpPr>
        <p:spPr>
          <a:xfrm>
            <a:off x="502920" y="1463040"/>
            <a:ext cx="5212080" cy="4709160"/>
          </a:xfrm>
          <a:prstGeom prst="roundRect">
            <a:avLst>
              <a:gd name="adj" fmla="val 1553"/>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7" name="Shape 4"/>
          <p:cNvSpPr/>
          <p:nvPr/>
        </p:nvSpPr>
        <p:spPr>
          <a:xfrm>
            <a:off x="502920" y="1463040"/>
            <a:ext cx="5212080" cy="594360"/>
          </a:xfrm>
          <a:prstGeom prst="rect">
            <a:avLst/>
          </a:prstGeom>
          <a:solidFill>
            <a:srgbClr val="15233B"/>
          </a:solidFill>
          <a:ln/>
        </p:spPr>
        <p:txBody>
          <a:bodyPr/>
          <a:lstStyle/>
          <a:p>
            <a:endParaRPr lang="en-US"/>
          </a:p>
        </p:txBody>
      </p:sp>
      <p:sp>
        <p:nvSpPr>
          <p:cNvPr id="8" name="Shape 5"/>
          <p:cNvSpPr/>
          <p:nvPr/>
        </p:nvSpPr>
        <p:spPr>
          <a:xfrm>
            <a:off x="502920" y="1463040"/>
            <a:ext cx="5212080" cy="685800"/>
          </a:xfrm>
          <a:prstGeom prst="roundRect">
            <a:avLst>
              <a:gd name="adj" fmla="val 10667"/>
            </a:avLst>
          </a:prstGeom>
          <a:solidFill>
            <a:srgbClr val="15233B"/>
          </a:solidFill>
          <a:ln/>
        </p:spPr>
        <p:txBody>
          <a:bodyPr/>
          <a:lstStyle/>
          <a:p>
            <a:endParaRPr lang="en-US"/>
          </a:p>
        </p:txBody>
      </p:sp>
      <p:sp>
        <p:nvSpPr>
          <p:cNvPr id="9" name="Shape 6"/>
          <p:cNvSpPr/>
          <p:nvPr/>
        </p:nvSpPr>
        <p:spPr>
          <a:xfrm>
            <a:off x="502920" y="1828800"/>
            <a:ext cx="5212080" cy="320040"/>
          </a:xfrm>
          <a:prstGeom prst="rect">
            <a:avLst/>
          </a:prstGeom>
          <a:solidFill>
            <a:srgbClr val="15233B"/>
          </a:solidFill>
          <a:ln/>
        </p:spPr>
        <p:txBody>
          <a:bodyPr/>
          <a:lstStyle/>
          <a:p>
            <a:endParaRPr lang="en-US"/>
          </a:p>
        </p:txBody>
      </p:sp>
      <p:sp>
        <p:nvSpPr>
          <p:cNvPr id="10" name="Text 7"/>
          <p:cNvSpPr/>
          <p:nvPr/>
        </p:nvSpPr>
        <p:spPr>
          <a:xfrm>
            <a:off x="777240" y="1463040"/>
            <a:ext cx="4663440" cy="6858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Primary Objectives</a:t>
            </a:r>
            <a:endParaRPr lang="en-US" sz="1700" dirty="0"/>
          </a:p>
        </p:txBody>
      </p:sp>
      <p:sp>
        <p:nvSpPr>
          <p:cNvPr id="11" name="Text 8"/>
          <p:cNvSpPr/>
          <p:nvPr/>
        </p:nvSpPr>
        <p:spPr>
          <a:xfrm>
            <a:off x="822960" y="2359152"/>
            <a:ext cx="4572000" cy="3611880"/>
          </a:xfrm>
          <a:prstGeom prst="rect">
            <a:avLst/>
          </a:prstGeom>
          <a:noFill/>
          <a:ln/>
        </p:spPr>
        <p:txBody>
          <a:bodyPr wrap="square" rtlCol="0" anchor="t"/>
          <a:lstStyle/>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Centralized platform to store and organize study material (PDFs &amp; images)</a:t>
            </a:r>
            <a:endParaRPr lang="en-US" sz="20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Enable students to manage files efficiently</a:t>
            </a:r>
            <a:endParaRPr lang="en-US" sz="20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Integrate AI-powered summarization for quick understanding</a:t>
            </a:r>
            <a:endParaRPr lang="en-US" sz="2000" dirty="0">
              <a:latin typeface="Cambria" panose="02040503050406030204" pitchFamily="18" charset="0"/>
              <a:ea typeface="Cambria" panose="02040503050406030204" pitchFamily="18" charset="0"/>
            </a:endParaRPr>
          </a:p>
        </p:txBody>
      </p:sp>
      <p:sp>
        <p:nvSpPr>
          <p:cNvPr id="12" name="Shape 9"/>
          <p:cNvSpPr/>
          <p:nvPr/>
        </p:nvSpPr>
        <p:spPr>
          <a:xfrm>
            <a:off x="6172200" y="1463040"/>
            <a:ext cx="5212080" cy="4709160"/>
          </a:xfrm>
          <a:prstGeom prst="roundRect">
            <a:avLst>
              <a:gd name="adj" fmla="val 1553"/>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3" name="Shape 10"/>
          <p:cNvSpPr/>
          <p:nvPr/>
        </p:nvSpPr>
        <p:spPr>
          <a:xfrm>
            <a:off x="6172200" y="1463040"/>
            <a:ext cx="5212080" cy="594360"/>
          </a:xfrm>
          <a:prstGeom prst="rect">
            <a:avLst/>
          </a:prstGeom>
          <a:solidFill>
            <a:srgbClr val="0E7C86"/>
          </a:solidFill>
          <a:ln/>
        </p:spPr>
        <p:txBody>
          <a:bodyPr/>
          <a:lstStyle/>
          <a:p>
            <a:endParaRPr lang="en-US"/>
          </a:p>
        </p:txBody>
      </p:sp>
      <p:sp>
        <p:nvSpPr>
          <p:cNvPr id="14" name="Shape 11"/>
          <p:cNvSpPr/>
          <p:nvPr/>
        </p:nvSpPr>
        <p:spPr>
          <a:xfrm>
            <a:off x="6172200" y="1463040"/>
            <a:ext cx="5212080" cy="685800"/>
          </a:xfrm>
          <a:prstGeom prst="roundRect">
            <a:avLst>
              <a:gd name="adj" fmla="val 10667"/>
            </a:avLst>
          </a:prstGeom>
          <a:solidFill>
            <a:srgbClr val="0E7C86"/>
          </a:solidFill>
          <a:ln/>
        </p:spPr>
        <p:txBody>
          <a:bodyPr/>
          <a:lstStyle/>
          <a:p>
            <a:endParaRPr lang="en-US"/>
          </a:p>
        </p:txBody>
      </p:sp>
      <p:sp>
        <p:nvSpPr>
          <p:cNvPr id="15" name="Shape 12"/>
          <p:cNvSpPr/>
          <p:nvPr/>
        </p:nvSpPr>
        <p:spPr>
          <a:xfrm>
            <a:off x="6172200" y="1828800"/>
            <a:ext cx="5212080" cy="320040"/>
          </a:xfrm>
          <a:prstGeom prst="rect">
            <a:avLst/>
          </a:prstGeom>
          <a:solidFill>
            <a:srgbClr val="0E7C86"/>
          </a:solidFill>
          <a:ln/>
        </p:spPr>
        <p:txBody>
          <a:bodyPr/>
          <a:lstStyle/>
          <a:p>
            <a:endParaRPr lang="en-US"/>
          </a:p>
        </p:txBody>
      </p:sp>
      <p:sp>
        <p:nvSpPr>
          <p:cNvPr id="16" name="Text 13"/>
          <p:cNvSpPr/>
          <p:nvPr/>
        </p:nvSpPr>
        <p:spPr>
          <a:xfrm>
            <a:off x="6446520" y="1463040"/>
            <a:ext cx="4663440" cy="6858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Secondary Objectives</a:t>
            </a:r>
            <a:endParaRPr lang="en-US" sz="1700" dirty="0"/>
          </a:p>
        </p:txBody>
      </p:sp>
      <p:sp>
        <p:nvSpPr>
          <p:cNvPr id="17" name="Text 14"/>
          <p:cNvSpPr/>
          <p:nvPr/>
        </p:nvSpPr>
        <p:spPr>
          <a:xfrm>
            <a:off x="6492240" y="2359152"/>
            <a:ext cx="4572000" cy="3611880"/>
          </a:xfrm>
          <a:prstGeom prst="rect">
            <a:avLst/>
          </a:prstGeom>
          <a:noFill/>
          <a:ln/>
        </p:spPr>
        <p:txBody>
          <a:bodyPr wrap="square" rtlCol="0" anchor="t"/>
          <a:lstStyle/>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Allow students to mark important notes</a:t>
            </a:r>
            <a:endParaRPr lang="en-US" sz="20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Enable secure user authentication</a:t>
            </a:r>
            <a:endParaRPr lang="en-US" sz="20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Reduce time spent searching for and reading materials</a:t>
            </a:r>
            <a:endParaRPr lang="en-US" sz="20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Help students revise using AI-summarized notes and quizzes</a:t>
            </a:r>
            <a:endParaRPr lang="en-US" sz="2000" dirty="0">
              <a:latin typeface="Cambria" panose="02040503050406030204" pitchFamily="18" charset="0"/>
              <a:ea typeface="Cambria" panose="02040503050406030204" pitchFamily="18" charset="0"/>
            </a:endParaRPr>
          </a:p>
        </p:txBody>
      </p:sp>
      <p:sp>
        <p:nvSpPr>
          <p:cNvPr id="18" name="Text 1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03</a:t>
            </a:r>
            <a:endParaRPr lang="en-US" sz="10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map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BRIDGING PROBLEM TO PRODUCT</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Our Solution &amp; Scope</a:t>
            </a:r>
            <a:endParaRPr lang="en-US" sz="3000" dirty="0"/>
          </a:p>
        </p:txBody>
      </p:sp>
      <p:sp>
        <p:nvSpPr>
          <p:cNvPr id="6" name="Shape 3"/>
          <p:cNvSpPr/>
          <p:nvPr/>
        </p:nvSpPr>
        <p:spPr>
          <a:xfrm>
            <a:off x="502920" y="1417320"/>
            <a:ext cx="11155680" cy="1005840"/>
          </a:xfrm>
          <a:prstGeom prst="roundRect">
            <a:avLst>
              <a:gd name="adj" fmla="val 7273"/>
            </a:avLst>
          </a:prstGeom>
          <a:solidFill>
            <a:srgbClr val="15233B"/>
          </a:solidFill>
          <a:ln/>
          <a:effectLst>
            <a:outerShdw blurRad="101600" dist="38100" dir="5400000" algn="bl" rotWithShape="0">
              <a:srgbClr val="000000">
                <a:alpha val="12000"/>
              </a:srgbClr>
            </a:outerShdw>
          </a:effectLst>
        </p:spPr>
        <p:txBody>
          <a:bodyPr/>
          <a:lstStyle/>
          <a:p>
            <a:endParaRPr lang="en-US"/>
          </a:p>
        </p:txBody>
      </p:sp>
      <p:sp>
        <p:nvSpPr>
          <p:cNvPr id="7" name="Text 4"/>
          <p:cNvSpPr/>
          <p:nvPr/>
        </p:nvSpPr>
        <p:spPr>
          <a:xfrm>
            <a:off x="685800" y="1463040"/>
            <a:ext cx="10789920" cy="914400"/>
          </a:xfrm>
          <a:prstGeom prst="rect">
            <a:avLst/>
          </a:prstGeom>
          <a:noFill/>
          <a:ln/>
        </p:spPr>
        <p:txBody>
          <a:bodyPr wrap="square" lIns="0" tIns="0" rIns="0" bIns="0" rtlCol="0" anchor="t"/>
          <a:lstStyle/>
          <a:p>
            <a:pPr algn="ctr"/>
            <a:r>
              <a:rPr lang="en-US" sz="3000" dirty="0">
                <a:solidFill>
                  <a:srgbClr val="F2A93B"/>
                </a:solidFill>
                <a:latin typeface="Cambria" pitchFamily="34" charset="0"/>
                <a:ea typeface="Cambria" pitchFamily="34" charset="-122"/>
                <a:cs typeface="Cambria" pitchFamily="34" charset="-120"/>
              </a:rPr>
              <a:t>“</a:t>
            </a:r>
            <a:r>
              <a:rPr lang="en-US" sz="2800" i="1" dirty="0">
                <a:solidFill>
                  <a:srgbClr val="FFFFFF"/>
                </a:solidFill>
                <a:latin typeface="Cambria" pitchFamily="34" charset="0"/>
                <a:ea typeface="Cambria" pitchFamily="34" charset="-122"/>
                <a:cs typeface="Cambria" pitchFamily="34" charset="-120"/>
              </a:rPr>
              <a:t>A centralized vault for academic files, with AI built in to help students understand them faster</a:t>
            </a:r>
            <a:r>
              <a:rPr lang="en-US" sz="3200" i="1" dirty="0">
                <a:solidFill>
                  <a:srgbClr val="FFFFFF"/>
                </a:solidFill>
                <a:latin typeface="Cambria" pitchFamily="34" charset="0"/>
                <a:ea typeface="Cambria" pitchFamily="34" charset="-122"/>
                <a:cs typeface="Cambria" pitchFamily="34" charset="-120"/>
              </a:rPr>
              <a:t>.</a:t>
            </a:r>
            <a:r>
              <a:rPr lang="en-US" sz="3000" dirty="0">
                <a:solidFill>
                  <a:srgbClr val="F2A93B"/>
                </a:solidFill>
                <a:latin typeface="Cambria" pitchFamily="34" charset="0"/>
                <a:ea typeface="Cambria" pitchFamily="34" charset="-122"/>
                <a:cs typeface="Cambria" pitchFamily="34" charset="-120"/>
              </a:rPr>
              <a:t>"</a:t>
            </a:r>
            <a:endParaRPr lang="en-US" sz="3000" dirty="0"/>
          </a:p>
        </p:txBody>
      </p:sp>
      <p:sp>
        <p:nvSpPr>
          <p:cNvPr id="9" name="Shape 6"/>
          <p:cNvSpPr/>
          <p:nvPr/>
        </p:nvSpPr>
        <p:spPr>
          <a:xfrm>
            <a:off x="882396" y="2880360"/>
            <a:ext cx="1828800" cy="1051560"/>
          </a:xfrm>
          <a:prstGeom prst="roundRect">
            <a:avLst>
              <a:gd name="adj" fmla="val 8696"/>
            </a:avLst>
          </a:prstGeom>
          <a:solidFill>
            <a:srgbClr val="FFFFFF"/>
          </a:solidFill>
          <a:ln w="1905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10" name="Text 7"/>
          <p:cNvSpPr/>
          <p:nvPr/>
        </p:nvSpPr>
        <p:spPr>
          <a:xfrm>
            <a:off x="882396" y="2880360"/>
            <a:ext cx="1828800" cy="1051560"/>
          </a:xfrm>
          <a:prstGeom prst="rect">
            <a:avLst/>
          </a:prstGeom>
          <a:noFill/>
          <a:ln/>
        </p:spPr>
        <p:txBody>
          <a:bodyPr wrap="square" lIns="50800" tIns="50800" rIns="50800" bIns="50800" rtlCol="0" anchor="ctr"/>
          <a:lstStyle/>
          <a:p>
            <a:pPr marL="0" indent="0" algn="ctr">
              <a:buNone/>
            </a:pPr>
            <a:r>
              <a:rPr lang="en-US" sz="2000" b="1" dirty="0">
                <a:solidFill>
                  <a:srgbClr val="17213B"/>
                </a:solidFill>
                <a:latin typeface="Calibri" pitchFamily="34" charset="0"/>
                <a:ea typeface="Calibri" pitchFamily="34" charset="-122"/>
                <a:cs typeface="Calibri" pitchFamily="34" charset="-120"/>
              </a:rPr>
              <a:t>Register /</a:t>
            </a:r>
            <a:endParaRPr lang="en-US" sz="2000" dirty="0"/>
          </a:p>
          <a:p>
            <a:pPr marL="0" indent="0" algn="ctr">
              <a:buNone/>
            </a:pPr>
            <a:r>
              <a:rPr lang="en-US" sz="2000" b="1" dirty="0">
                <a:solidFill>
                  <a:srgbClr val="17213B"/>
                </a:solidFill>
                <a:latin typeface="Calibri" pitchFamily="34" charset="0"/>
                <a:ea typeface="Calibri" pitchFamily="34" charset="-122"/>
                <a:cs typeface="Calibri" pitchFamily="34" charset="-120"/>
              </a:rPr>
              <a:t>Login</a:t>
            </a:r>
            <a:endParaRPr lang="en-US" sz="2000" dirty="0"/>
          </a:p>
        </p:txBody>
      </p:sp>
      <p:sp>
        <p:nvSpPr>
          <p:cNvPr id="11" name="Shape 8"/>
          <p:cNvSpPr/>
          <p:nvPr/>
        </p:nvSpPr>
        <p:spPr>
          <a:xfrm>
            <a:off x="2738628" y="3305556"/>
            <a:ext cx="265176" cy="201168"/>
          </a:xfrm>
          <a:prstGeom prst="rightArrow">
            <a:avLst/>
          </a:prstGeom>
          <a:solidFill>
            <a:srgbClr val="F2A93B"/>
          </a:solidFill>
          <a:ln/>
        </p:spPr>
        <p:txBody>
          <a:bodyPr/>
          <a:lstStyle/>
          <a:p>
            <a:endParaRPr lang="en-US"/>
          </a:p>
        </p:txBody>
      </p:sp>
      <p:sp>
        <p:nvSpPr>
          <p:cNvPr id="12" name="Shape 9"/>
          <p:cNvSpPr/>
          <p:nvPr/>
        </p:nvSpPr>
        <p:spPr>
          <a:xfrm>
            <a:off x="3031236" y="2880360"/>
            <a:ext cx="1828800" cy="1051560"/>
          </a:xfrm>
          <a:prstGeom prst="roundRect">
            <a:avLst>
              <a:gd name="adj" fmla="val 8696"/>
            </a:avLst>
          </a:prstGeom>
          <a:solidFill>
            <a:srgbClr val="FFFFFF"/>
          </a:solidFill>
          <a:ln w="1905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13" name="Text 10"/>
          <p:cNvSpPr/>
          <p:nvPr/>
        </p:nvSpPr>
        <p:spPr>
          <a:xfrm>
            <a:off x="3031236" y="2880360"/>
            <a:ext cx="1828800" cy="1051560"/>
          </a:xfrm>
          <a:prstGeom prst="rect">
            <a:avLst/>
          </a:prstGeom>
          <a:noFill/>
          <a:ln/>
        </p:spPr>
        <p:txBody>
          <a:bodyPr wrap="square" lIns="50800" tIns="50800" rIns="50800" bIns="50800" rtlCol="0" anchor="ctr"/>
          <a:lstStyle/>
          <a:p>
            <a:pPr marL="0" indent="0" algn="ctr">
              <a:buNone/>
            </a:pPr>
            <a:r>
              <a:rPr lang="en-US" sz="2000" b="1" dirty="0">
                <a:solidFill>
                  <a:srgbClr val="17213B"/>
                </a:solidFill>
                <a:latin typeface="Calibri" pitchFamily="34" charset="0"/>
                <a:ea typeface="Calibri" pitchFamily="34" charset="-122"/>
                <a:cs typeface="Calibri" pitchFamily="34" charset="-120"/>
              </a:rPr>
              <a:t>Upload PDF</a:t>
            </a:r>
            <a:endParaRPr lang="en-US" sz="2000" dirty="0"/>
          </a:p>
          <a:p>
            <a:pPr marL="0" indent="0" algn="ctr">
              <a:buNone/>
            </a:pPr>
            <a:r>
              <a:rPr lang="en-US" sz="2000" b="1" dirty="0">
                <a:solidFill>
                  <a:srgbClr val="17213B"/>
                </a:solidFill>
                <a:latin typeface="Calibri" pitchFamily="34" charset="0"/>
                <a:ea typeface="Calibri" pitchFamily="34" charset="-122"/>
                <a:cs typeface="Calibri" pitchFamily="34" charset="-120"/>
              </a:rPr>
              <a:t>/ Image</a:t>
            </a:r>
            <a:endParaRPr lang="en-US" sz="2000" dirty="0"/>
          </a:p>
        </p:txBody>
      </p:sp>
      <p:sp>
        <p:nvSpPr>
          <p:cNvPr id="14" name="Shape 11"/>
          <p:cNvSpPr/>
          <p:nvPr/>
        </p:nvSpPr>
        <p:spPr>
          <a:xfrm>
            <a:off x="4887468" y="3305556"/>
            <a:ext cx="265176" cy="201168"/>
          </a:xfrm>
          <a:prstGeom prst="rightArrow">
            <a:avLst/>
          </a:prstGeom>
          <a:solidFill>
            <a:srgbClr val="F2A93B"/>
          </a:solidFill>
          <a:ln/>
        </p:spPr>
        <p:txBody>
          <a:bodyPr/>
          <a:lstStyle/>
          <a:p>
            <a:endParaRPr lang="en-US"/>
          </a:p>
        </p:txBody>
      </p:sp>
      <p:sp>
        <p:nvSpPr>
          <p:cNvPr id="15" name="Shape 12"/>
          <p:cNvSpPr/>
          <p:nvPr/>
        </p:nvSpPr>
        <p:spPr>
          <a:xfrm>
            <a:off x="5180076" y="2880360"/>
            <a:ext cx="1828800" cy="1051560"/>
          </a:xfrm>
          <a:prstGeom prst="roundRect">
            <a:avLst>
              <a:gd name="adj" fmla="val 8696"/>
            </a:avLst>
          </a:prstGeom>
          <a:solidFill>
            <a:srgbClr val="FFFFFF"/>
          </a:solidFill>
          <a:ln w="1905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16" name="Text 13"/>
          <p:cNvSpPr/>
          <p:nvPr/>
        </p:nvSpPr>
        <p:spPr>
          <a:xfrm>
            <a:off x="5180076" y="2880360"/>
            <a:ext cx="1828800" cy="1051560"/>
          </a:xfrm>
          <a:prstGeom prst="rect">
            <a:avLst/>
          </a:prstGeom>
          <a:noFill/>
          <a:ln/>
        </p:spPr>
        <p:txBody>
          <a:bodyPr wrap="square" lIns="50800" tIns="50800" rIns="50800" bIns="50800" rtlCol="0" anchor="ctr"/>
          <a:lstStyle/>
          <a:p>
            <a:pPr marL="0" indent="0" algn="ctr">
              <a:buNone/>
            </a:pPr>
            <a:r>
              <a:rPr lang="en-US" sz="2000" b="1" dirty="0">
                <a:solidFill>
                  <a:srgbClr val="17213B"/>
                </a:solidFill>
                <a:latin typeface="Calibri" pitchFamily="34" charset="0"/>
                <a:ea typeface="Calibri" pitchFamily="34" charset="-122"/>
                <a:cs typeface="Calibri" pitchFamily="34" charset="-120"/>
              </a:rPr>
              <a:t>Organize</a:t>
            </a:r>
            <a:endParaRPr lang="en-US" sz="2000" dirty="0"/>
          </a:p>
          <a:p>
            <a:pPr marL="0" indent="0" algn="ctr">
              <a:buNone/>
            </a:pPr>
            <a:r>
              <a:rPr lang="en-US" sz="2000" b="1" dirty="0">
                <a:solidFill>
                  <a:srgbClr val="17213B"/>
                </a:solidFill>
                <a:latin typeface="Calibri" pitchFamily="34" charset="0"/>
                <a:ea typeface="Calibri" pitchFamily="34" charset="-122"/>
                <a:cs typeface="Calibri" pitchFamily="34" charset="-120"/>
              </a:rPr>
              <a:t>(Folders, Pin)</a:t>
            </a:r>
            <a:endParaRPr lang="en-US" sz="2000" dirty="0"/>
          </a:p>
        </p:txBody>
      </p:sp>
      <p:sp>
        <p:nvSpPr>
          <p:cNvPr id="17" name="Shape 14"/>
          <p:cNvSpPr/>
          <p:nvPr/>
        </p:nvSpPr>
        <p:spPr>
          <a:xfrm>
            <a:off x="7036308" y="3305556"/>
            <a:ext cx="265176" cy="201168"/>
          </a:xfrm>
          <a:prstGeom prst="rightArrow">
            <a:avLst/>
          </a:prstGeom>
          <a:solidFill>
            <a:srgbClr val="F2A93B"/>
          </a:solidFill>
          <a:ln/>
        </p:spPr>
        <p:txBody>
          <a:bodyPr/>
          <a:lstStyle/>
          <a:p>
            <a:endParaRPr lang="en-US"/>
          </a:p>
        </p:txBody>
      </p:sp>
      <p:sp>
        <p:nvSpPr>
          <p:cNvPr id="18" name="Shape 15"/>
          <p:cNvSpPr/>
          <p:nvPr/>
        </p:nvSpPr>
        <p:spPr>
          <a:xfrm>
            <a:off x="7328916" y="2880360"/>
            <a:ext cx="1828800" cy="1051560"/>
          </a:xfrm>
          <a:prstGeom prst="roundRect">
            <a:avLst>
              <a:gd name="adj" fmla="val 8696"/>
            </a:avLst>
          </a:prstGeom>
          <a:solidFill>
            <a:srgbClr val="FFFFFF"/>
          </a:solidFill>
          <a:ln w="1905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19" name="Text 16"/>
          <p:cNvSpPr/>
          <p:nvPr/>
        </p:nvSpPr>
        <p:spPr>
          <a:xfrm>
            <a:off x="7328916" y="2880360"/>
            <a:ext cx="1828800" cy="1051560"/>
          </a:xfrm>
          <a:prstGeom prst="rect">
            <a:avLst/>
          </a:prstGeom>
          <a:noFill/>
          <a:ln/>
        </p:spPr>
        <p:txBody>
          <a:bodyPr wrap="square" lIns="50800" tIns="50800" rIns="50800" bIns="50800" rtlCol="0" anchor="ctr"/>
          <a:lstStyle/>
          <a:p>
            <a:pPr marL="0" indent="0" algn="ctr">
              <a:buNone/>
            </a:pPr>
            <a:r>
              <a:rPr lang="en-US" sz="2000" b="1" dirty="0">
                <a:solidFill>
                  <a:srgbClr val="17213B"/>
                </a:solidFill>
                <a:latin typeface="Calibri" pitchFamily="34" charset="0"/>
                <a:ea typeface="Calibri" pitchFamily="34" charset="-122"/>
                <a:cs typeface="Calibri" pitchFamily="34" charset="-120"/>
              </a:rPr>
              <a:t>AI</a:t>
            </a:r>
            <a:endParaRPr lang="en-US" sz="2000" dirty="0"/>
          </a:p>
          <a:p>
            <a:pPr marL="0" indent="0" algn="ctr">
              <a:buNone/>
            </a:pPr>
            <a:r>
              <a:rPr lang="en-US" sz="2000" b="1" dirty="0">
                <a:solidFill>
                  <a:srgbClr val="17213B"/>
                </a:solidFill>
                <a:latin typeface="Calibri" pitchFamily="34" charset="0"/>
                <a:ea typeface="Calibri" pitchFamily="34" charset="-122"/>
                <a:cs typeface="Calibri" pitchFamily="34" charset="-120"/>
              </a:rPr>
              <a:t>Summarize</a:t>
            </a:r>
            <a:endParaRPr lang="en-US" sz="2000" dirty="0"/>
          </a:p>
        </p:txBody>
      </p:sp>
      <p:sp>
        <p:nvSpPr>
          <p:cNvPr id="20" name="Shape 17"/>
          <p:cNvSpPr/>
          <p:nvPr/>
        </p:nvSpPr>
        <p:spPr>
          <a:xfrm>
            <a:off x="9185148" y="3305556"/>
            <a:ext cx="265176" cy="201168"/>
          </a:xfrm>
          <a:prstGeom prst="rightArrow">
            <a:avLst/>
          </a:prstGeom>
          <a:solidFill>
            <a:srgbClr val="F2A93B"/>
          </a:solidFill>
          <a:ln/>
        </p:spPr>
        <p:txBody>
          <a:bodyPr/>
          <a:lstStyle/>
          <a:p>
            <a:endParaRPr lang="en-US"/>
          </a:p>
        </p:txBody>
      </p:sp>
      <p:sp>
        <p:nvSpPr>
          <p:cNvPr id="21" name="Shape 18"/>
          <p:cNvSpPr/>
          <p:nvPr/>
        </p:nvSpPr>
        <p:spPr>
          <a:xfrm>
            <a:off x="9477756" y="2880360"/>
            <a:ext cx="1828800" cy="1051560"/>
          </a:xfrm>
          <a:prstGeom prst="roundRect">
            <a:avLst>
              <a:gd name="adj" fmla="val 8696"/>
            </a:avLst>
          </a:prstGeom>
          <a:solidFill>
            <a:srgbClr val="FFFFFF"/>
          </a:solidFill>
          <a:ln w="1905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22" name="Text 19"/>
          <p:cNvSpPr/>
          <p:nvPr/>
        </p:nvSpPr>
        <p:spPr>
          <a:xfrm>
            <a:off x="9477756" y="2880360"/>
            <a:ext cx="1828800" cy="1051560"/>
          </a:xfrm>
          <a:prstGeom prst="rect">
            <a:avLst/>
          </a:prstGeom>
          <a:noFill/>
          <a:ln/>
        </p:spPr>
        <p:txBody>
          <a:bodyPr wrap="square" lIns="50800" tIns="50800" rIns="50800" bIns="50800" rtlCol="0" anchor="ctr"/>
          <a:lstStyle/>
          <a:p>
            <a:pPr marL="0" indent="0" algn="ctr">
              <a:buNone/>
            </a:pPr>
            <a:r>
              <a:rPr lang="en-US" sz="2000" b="1" dirty="0">
                <a:solidFill>
                  <a:srgbClr val="17213B"/>
                </a:solidFill>
                <a:latin typeface="Calibri" pitchFamily="34" charset="0"/>
                <a:ea typeface="Calibri" pitchFamily="34" charset="-122"/>
                <a:cs typeface="Calibri" pitchFamily="34" charset="-120"/>
              </a:rPr>
              <a:t>AI</a:t>
            </a:r>
            <a:endParaRPr lang="en-US" sz="2000" dirty="0"/>
          </a:p>
          <a:p>
            <a:pPr marL="0" indent="0" algn="ctr">
              <a:buNone/>
            </a:pPr>
            <a:r>
              <a:rPr lang="en-US" sz="2000" b="1" dirty="0">
                <a:solidFill>
                  <a:srgbClr val="17213B"/>
                </a:solidFill>
                <a:latin typeface="Calibri" pitchFamily="34" charset="0"/>
                <a:ea typeface="Calibri" pitchFamily="34" charset="-122"/>
                <a:cs typeface="Calibri" pitchFamily="34" charset="-120"/>
              </a:rPr>
              <a:t>Quiz</a:t>
            </a:r>
            <a:endParaRPr lang="en-US" sz="2000" dirty="0"/>
          </a:p>
        </p:txBody>
      </p:sp>
      <p:sp>
        <p:nvSpPr>
          <p:cNvPr id="23" name="Text 20"/>
          <p:cNvSpPr/>
          <p:nvPr/>
        </p:nvSpPr>
        <p:spPr>
          <a:xfrm>
            <a:off x="640080" y="4434840"/>
            <a:ext cx="10881360" cy="1554480"/>
          </a:xfrm>
          <a:prstGeom prst="rect">
            <a:avLst/>
          </a:prstGeom>
          <a:noFill/>
          <a:ln/>
        </p:spPr>
        <p:txBody>
          <a:bodyPr wrap="square" rtlCol="0" anchor="ctr"/>
          <a:lstStyle/>
          <a:p>
            <a:pPr marL="342900" indent="-342900">
              <a:spcAft>
                <a:spcPts val="800"/>
              </a:spcAft>
              <a:buSzPct val="100000"/>
              <a:buChar char="•"/>
            </a:pPr>
            <a:r>
              <a:rPr lang="en-US" sz="2000" dirty="0">
                <a:solidFill>
                  <a:srgbClr val="5B6B8C"/>
                </a:solidFill>
                <a:latin typeface="Calibri" pitchFamily="34" charset="0"/>
                <a:ea typeface="Calibri" pitchFamily="34" charset="-122"/>
                <a:cs typeface="Calibri" pitchFamily="34" charset="-120"/>
              </a:rPr>
              <a:t>Platform: Android, built with React Native + Expo</a:t>
            </a:r>
            <a:endParaRPr lang="en-US" sz="2000" dirty="0"/>
          </a:p>
          <a:p>
            <a:pPr marL="342900" indent="-342900">
              <a:spcAft>
                <a:spcPts val="800"/>
              </a:spcAft>
              <a:buSzPct val="100000"/>
              <a:buChar char="•"/>
            </a:pPr>
            <a:r>
              <a:rPr lang="en-US" sz="2000" dirty="0">
                <a:solidFill>
                  <a:srgbClr val="5B6B8C"/>
                </a:solidFill>
                <a:latin typeface="Calibri" pitchFamily="34" charset="0"/>
                <a:ea typeface="Calibri" pitchFamily="34" charset="-122"/>
                <a:cs typeface="Calibri" pitchFamily="34" charset="-120"/>
              </a:rPr>
              <a:t>Satisfies core requirement: functional app, 9 screens, local + cloud data storage</a:t>
            </a:r>
            <a:endParaRPr lang="en-US" sz="2000" dirty="0"/>
          </a:p>
          <a:p>
            <a:pPr marL="342900" indent="-342900">
              <a:spcAft>
                <a:spcPts val="800"/>
              </a:spcAft>
              <a:buSzPct val="100000"/>
              <a:buChar char="•"/>
            </a:pPr>
            <a:r>
              <a:rPr lang="en-US" sz="2000" dirty="0">
                <a:solidFill>
                  <a:srgbClr val="5B6B8C"/>
                </a:solidFill>
                <a:latin typeface="Calibri" pitchFamily="34" charset="0"/>
                <a:ea typeface="Calibri" pitchFamily="34" charset="-122"/>
                <a:cs typeface="Calibri" pitchFamily="34" charset="-120"/>
              </a:rPr>
              <a:t>AI integration is central to the app, not an add-on feature</a:t>
            </a:r>
            <a:endParaRPr lang="en-US" sz="2000" dirty="0"/>
          </a:p>
        </p:txBody>
      </p:sp>
      <p:sp>
        <p:nvSpPr>
          <p:cNvPr id="24" name="Text 2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04</a:t>
            </a:r>
            <a:endParaRPr lang="en-US" sz="10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114800" cy="4114800"/>
          </a:xfrm>
          <a:prstGeom prst="ellipse">
            <a:avLst/>
          </a:prstGeom>
          <a:solidFill>
            <a:srgbClr val="1E2F52"/>
          </a:solidFill>
          <a:ln/>
        </p:spPr>
        <p:txBody>
          <a:bodyPr/>
          <a:lstStyle/>
          <a:p>
            <a:endParaRPr lang="en-US"/>
          </a:p>
        </p:txBody>
      </p:sp>
      <p:sp>
        <p:nvSpPr>
          <p:cNvPr id="3" name="Shape 1"/>
          <p:cNvSpPr/>
          <p:nvPr/>
        </p:nvSpPr>
        <p:spPr>
          <a:xfrm>
            <a:off x="502920" y="384048"/>
            <a:ext cx="566928" cy="566928"/>
          </a:xfrm>
          <a:prstGeom prst="ellipse">
            <a:avLst/>
          </a:prstGeom>
          <a:solidFill>
            <a:srgbClr val="1E2F52"/>
          </a:solidFill>
          <a:ln/>
        </p:spPr>
        <p:txBody>
          <a:bodyPr/>
          <a:lstStyle/>
          <a:p>
            <a:endParaRPr lang="en-US"/>
          </a:p>
        </p:txBody>
      </p:sp>
      <p:pic>
        <p:nvPicPr>
          <p:cNvPr id="4" name="Image 0" descr="icons/sitemap_amber.png"/>
          <p:cNvPicPr>
            <a:picLocks noChangeAspect="1"/>
          </p:cNvPicPr>
          <p:nvPr/>
        </p:nvPicPr>
        <p:blipFill>
          <a:blip r:embed="rId3"/>
          <a:stretch>
            <a:fillRect/>
          </a:stretch>
        </p:blipFill>
        <p:spPr>
          <a:xfrm>
            <a:off x="650321" y="531449"/>
            <a:ext cx="272125" cy="272125"/>
          </a:xfrm>
          <a:prstGeom prst="rect">
            <a:avLst/>
          </a:prstGeom>
        </p:spPr>
      </p:pic>
      <p:sp>
        <p:nvSpPr>
          <p:cNvPr id="5" name="Text 2"/>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HOW THE PIECES FIT TOGETHER</a:t>
            </a:r>
            <a:endParaRPr lang="en-US" sz="1200" dirty="0"/>
          </a:p>
        </p:txBody>
      </p:sp>
      <p:sp>
        <p:nvSpPr>
          <p:cNvPr id="6" name="Text 3"/>
          <p:cNvSpPr/>
          <p:nvPr/>
        </p:nvSpPr>
        <p:spPr>
          <a:xfrm>
            <a:off x="1234440" y="603504"/>
            <a:ext cx="100584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7" name="Shape 4"/>
          <p:cNvSpPr>
            <a:spLocks noGrp="1" noRot="1" noMove="1" noResize="1" noEditPoints="1" noAdjustHandles="1" noChangeArrowheads="1" noChangeShapeType="1"/>
          </p:cNvSpPr>
          <p:nvPr/>
        </p:nvSpPr>
        <p:spPr>
          <a:xfrm>
            <a:off x="502920" y="1783080"/>
            <a:ext cx="3383280" cy="1828800"/>
          </a:xfrm>
          <a:prstGeom prst="roundRect">
            <a:avLst>
              <a:gd name="adj" fmla="val 4500"/>
            </a:avLst>
          </a:prstGeom>
          <a:solidFill>
            <a:srgbClr val="F7F9FC"/>
          </a:solidFill>
          <a:ln/>
          <a:effectLst>
            <a:outerShdw blurRad="101600" dist="38100" dir="5400000" algn="bl" rotWithShape="0">
              <a:srgbClr val="000000">
                <a:alpha val="12000"/>
              </a:srgbClr>
            </a:outerShdw>
          </a:effectLst>
        </p:spPr>
        <p:txBody>
          <a:bodyPr/>
          <a:lstStyle/>
          <a:p>
            <a:endParaRPr lang="en-US"/>
          </a:p>
        </p:txBody>
      </p:sp>
      <p:grpSp>
        <p:nvGrpSpPr>
          <p:cNvPr id="33" name="Group 32">
            <a:extLst>
              <a:ext uri="{FF2B5EF4-FFF2-40B4-BE49-F238E27FC236}">
                <a16:creationId xmlns:a16="http://schemas.microsoft.com/office/drawing/2014/main" id="{3BE2C12E-A175-B2E8-0BDD-C22A07029855}"/>
              </a:ext>
            </a:extLst>
          </p:cNvPr>
          <p:cNvGrpSpPr/>
          <p:nvPr/>
        </p:nvGrpSpPr>
        <p:grpSpPr>
          <a:xfrm>
            <a:off x="1874520" y="1843732"/>
            <a:ext cx="640080" cy="640080"/>
            <a:chOff x="1874520" y="1797077"/>
            <a:chExt cx="640080" cy="640080"/>
          </a:xfrm>
        </p:grpSpPr>
        <p:sp>
          <p:nvSpPr>
            <p:cNvPr id="8" name="Shape 5"/>
            <p:cNvSpPr/>
            <p:nvPr/>
          </p:nvSpPr>
          <p:spPr>
            <a:xfrm>
              <a:off x="1874520" y="1797077"/>
              <a:ext cx="640080" cy="640080"/>
            </a:xfrm>
            <a:prstGeom prst="ellipse">
              <a:avLst/>
            </a:prstGeom>
            <a:solidFill>
              <a:srgbClr val="E8EDF5"/>
            </a:solidFill>
            <a:ln w="19050">
              <a:solidFill>
                <a:srgbClr val="15233B"/>
              </a:solidFill>
            </a:ln>
          </p:spPr>
          <p:txBody>
            <a:bodyPr/>
            <a:lstStyle/>
            <a:p>
              <a:endParaRPr lang="en-US"/>
            </a:p>
          </p:txBody>
        </p:sp>
        <p:pic>
          <p:nvPicPr>
            <p:cNvPr id="9" name="Image 1" descr="icons/phone_navy.png"/>
            <p:cNvPicPr>
              <a:picLocks noChangeAspect="1"/>
            </p:cNvPicPr>
            <p:nvPr/>
          </p:nvPicPr>
          <p:blipFill>
            <a:blip r:embed="rId4"/>
            <a:stretch>
              <a:fillRect/>
            </a:stretch>
          </p:blipFill>
          <p:spPr>
            <a:xfrm>
              <a:off x="2040941" y="1963498"/>
              <a:ext cx="307238" cy="307238"/>
            </a:xfrm>
            <a:prstGeom prst="rect">
              <a:avLst/>
            </a:prstGeom>
          </p:spPr>
        </p:pic>
      </p:grpSp>
      <p:sp>
        <p:nvSpPr>
          <p:cNvPr id="10" name="Text 6"/>
          <p:cNvSpPr/>
          <p:nvPr/>
        </p:nvSpPr>
        <p:spPr>
          <a:xfrm>
            <a:off x="694944" y="2445647"/>
            <a:ext cx="3017520" cy="365760"/>
          </a:xfrm>
          <a:prstGeom prst="rect">
            <a:avLst/>
          </a:prstGeom>
          <a:noFill/>
          <a:ln/>
        </p:spPr>
        <p:txBody>
          <a:bodyPr wrap="square" lIns="0" tIns="0" rIns="0" bIns="0" rtlCol="0" anchor="ctr"/>
          <a:lstStyle/>
          <a:p>
            <a:pPr marL="0" indent="0" algn="ctr">
              <a:buNone/>
            </a:pPr>
            <a:r>
              <a:rPr lang="en-US" b="1" dirty="0">
                <a:solidFill>
                  <a:srgbClr val="17213B"/>
                </a:solidFill>
                <a:latin typeface="Cambria" pitchFamily="34" charset="0"/>
                <a:ea typeface="Cambria" pitchFamily="34" charset="-122"/>
                <a:cs typeface="Cambria" pitchFamily="34" charset="-120"/>
              </a:rPr>
              <a:t>React Native / Expo</a:t>
            </a:r>
            <a:endParaRPr lang="en-US" dirty="0"/>
          </a:p>
        </p:txBody>
      </p:sp>
      <p:sp>
        <p:nvSpPr>
          <p:cNvPr id="11" name="Text 7"/>
          <p:cNvSpPr/>
          <p:nvPr/>
        </p:nvSpPr>
        <p:spPr>
          <a:xfrm>
            <a:off x="704088" y="2789947"/>
            <a:ext cx="3017520" cy="274320"/>
          </a:xfrm>
          <a:prstGeom prst="rect">
            <a:avLst/>
          </a:prstGeom>
          <a:noFill/>
          <a:ln/>
        </p:spPr>
        <p:txBody>
          <a:bodyPr wrap="square" lIns="0" tIns="0" rIns="0" bIns="0" rtlCol="0" anchor="ctr"/>
          <a:lstStyle/>
          <a:p>
            <a:pPr marL="0" indent="0" algn="ctr">
              <a:buNone/>
            </a:pPr>
            <a:r>
              <a:rPr lang="en-US" sz="1600" b="1" dirty="0">
                <a:solidFill>
                  <a:srgbClr val="0E7C86"/>
                </a:solidFill>
                <a:latin typeface="Calibri" pitchFamily="34" charset="0"/>
                <a:ea typeface="Calibri" pitchFamily="34" charset="-122"/>
                <a:cs typeface="Calibri" pitchFamily="34" charset="-120"/>
              </a:rPr>
              <a:t>Frontend</a:t>
            </a:r>
            <a:endParaRPr lang="en-US" sz="1600" dirty="0"/>
          </a:p>
        </p:txBody>
      </p:sp>
      <p:sp>
        <p:nvSpPr>
          <p:cNvPr id="12" name="Text 8"/>
          <p:cNvSpPr/>
          <p:nvPr/>
        </p:nvSpPr>
        <p:spPr>
          <a:xfrm>
            <a:off x="704088" y="3088535"/>
            <a:ext cx="3017520" cy="457200"/>
          </a:xfrm>
          <a:prstGeom prst="rect">
            <a:avLst/>
          </a:prstGeom>
          <a:noFill/>
          <a:ln/>
        </p:spPr>
        <p:txBody>
          <a:bodyPr wrap="square" lIns="0" tIns="0" rIns="0" bIns="0" rtlCol="0" anchor="ctr"/>
          <a:lstStyle/>
          <a:p>
            <a:pPr marL="0" indent="0" algn="ctr">
              <a:buNone/>
            </a:pPr>
            <a:r>
              <a:rPr lang="en-US" sz="1600" dirty="0">
                <a:solidFill>
                  <a:srgbClr val="5B6B8C"/>
                </a:solidFill>
                <a:latin typeface="Calibri" pitchFamily="34" charset="0"/>
                <a:ea typeface="Calibri" pitchFamily="34" charset="-122"/>
                <a:cs typeface="Calibri" pitchFamily="34" charset="-120"/>
              </a:rPr>
              <a:t>UI, navigation,</a:t>
            </a:r>
            <a:r>
              <a:rPr lang="en-US" sz="1600" dirty="0"/>
              <a:t> </a:t>
            </a:r>
            <a:r>
              <a:rPr lang="en-US" sz="1600" dirty="0">
                <a:solidFill>
                  <a:srgbClr val="5B6B8C"/>
                </a:solidFill>
                <a:latin typeface="Calibri" pitchFamily="34" charset="0"/>
                <a:ea typeface="Calibri" pitchFamily="34" charset="-122"/>
                <a:cs typeface="Calibri" pitchFamily="34" charset="-120"/>
              </a:rPr>
              <a:t>9 screens, theming</a:t>
            </a:r>
            <a:endParaRPr lang="en-US" sz="1600" dirty="0"/>
          </a:p>
        </p:txBody>
      </p:sp>
      <p:sp>
        <p:nvSpPr>
          <p:cNvPr id="13" name="Shape 9"/>
          <p:cNvSpPr>
            <a:spLocks noGrp="1" noRot="1" noMove="1" noResize="1" noEditPoints="1" noAdjustHandles="1" noChangeArrowheads="1" noChangeShapeType="1"/>
          </p:cNvSpPr>
          <p:nvPr/>
        </p:nvSpPr>
        <p:spPr>
          <a:xfrm>
            <a:off x="4434840" y="1783080"/>
            <a:ext cx="3383280" cy="1828800"/>
          </a:xfrm>
          <a:prstGeom prst="roundRect">
            <a:avLst>
              <a:gd name="adj" fmla="val 4500"/>
            </a:avLst>
          </a:prstGeom>
          <a:solidFill>
            <a:srgbClr val="F7F9FC"/>
          </a:solidFill>
          <a:ln/>
          <a:effectLst>
            <a:outerShdw blurRad="101600" dist="38100" dir="5400000" algn="bl" rotWithShape="0">
              <a:srgbClr val="000000">
                <a:alpha val="12000"/>
              </a:srgbClr>
            </a:outerShdw>
          </a:effectLst>
        </p:spPr>
        <p:txBody>
          <a:bodyPr/>
          <a:lstStyle/>
          <a:p>
            <a:endParaRPr lang="en-US"/>
          </a:p>
        </p:txBody>
      </p:sp>
      <p:grpSp>
        <p:nvGrpSpPr>
          <p:cNvPr id="34" name="Group 33">
            <a:extLst>
              <a:ext uri="{FF2B5EF4-FFF2-40B4-BE49-F238E27FC236}">
                <a16:creationId xmlns:a16="http://schemas.microsoft.com/office/drawing/2014/main" id="{8FB090EB-D31E-EB0E-0390-FDE33D1E5D70}"/>
              </a:ext>
            </a:extLst>
          </p:cNvPr>
          <p:cNvGrpSpPr/>
          <p:nvPr/>
        </p:nvGrpSpPr>
        <p:grpSpPr>
          <a:xfrm>
            <a:off x="5809550" y="1862204"/>
            <a:ext cx="640080" cy="640080"/>
            <a:chOff x="5806440" y="1797077"/>
            <a:chExt cx="640080" cy="640080"/>
          </a:xfrm>
        </p:grpSpPr>
        <p:sp>
          <p:nvSpPr>
            <p:cNvPr id="14" name="Shape 10"/>
            <p:cNvSpPr/>
            <p:nvPr/>
          </p:nvSpPr>
          <p:spPr>
            <a:xfrm>
              <a:off x="5806440" y="1797077"/>
              <a:ext cx="640080" cy="640080"/>
            </a:xfrm>
            <a:prstGeom prst="ellipse">
              <a:avLst/>
            </a:prstGeom>
            <a:solidFill>
              <a:srgbClr val="E8EDF5"/>
            </a:solidFill>
            <a:ln w="19050">
              <a:solidFill>
                <a:srgbClr val="15233B"/>
              </a:solidFill>
            </a:ln>
          </p:spPr>
          <p:txBody>
            <a:bodyPr/>
            <a:lstStyle/>
            <a:p>
              <a:endParaRPr lang="en-US" dirty="0"/>
            </a:p>
          </p:txBody>
        </p:sp>
        <p:pic>
          <p:nvPicPr>
            <p:cNvPr id="15" name="Image 2" descr="icons/db_navy.png"/>
            <p:cNvPicPr>
              <a:picLocks noChangeAspect="1"/>
            </p:cNvPicPr>
            <p:nvPr/>
          </p:nvPicPr>
          <p:blipFill>
            <a:blip r:embed="rId5"/>
            <a:stretch>
              <a:fillRect/>
            </a:stretch>
          </p:blipFill>
          <p:spPr>
            <a:xfrm>
              <a:off x="5972861" y="1963498"/>
              <a:ext cx="307238" cy="307238"/>
            </a:xfrm>
            <a:prstGeom prst="rect">
              <a:avLst/>
            </a:prstGeom>
          </p:spPr>
        </p:pic>
      </p:grpSp>
      <p:sp>
        <p:nvSpPr>
          <p:cNvPr id="16" name="Text 11"/>
          <p:cNvSpPr/>
          <p:nvPr/>
        </p:nvSpPr>
        <p:spPr>
          <a:xfrm>
            <a:off x="4611624" y="2458167"/>
            <a:ext cx="3017520" cy="365760"/>
          </a:xfrm>
          <a:prstGeom prst="rect">
            <a:avLst/>
          </a:prstGeom>
          <a:noFill/>
          <a:ln/>
        </p:spPr>
        <p:txBody>
          <a:bodyPr wrap="square" lIns="0" tIns="0" rIns="0" bIns="0" rtlCol="0" anchor="ctr"/>
          <a:lstStyle/>
          <a:p>
            <a:pPr marL="0" indent="0" algn="ctr">
              <a:buNone/>
            </a:pPr>
            <a:r>
              <a:rPr lang="en-US" b="1" dirty="0">
                <a:solidFill>
                  <a:srgbClr val="17213B"/>
                </a:solidFill>
                <a:latin typeface="Cambria" pitchFamily="34" charset="0"/>
                <a:ea typeface="Cambria" pitchFamily="34" charset="-122"/>
                <a:cs typeface="Cambria" pitchFamily="34" charset="-120"/>
              </a:rPr>
              <a:t>Firebase</a:t>
            </a:r>
            <a:endParaRPr lang="en-US" dirty="0"/>
          </a:p>
        </p:txBody>
      </p:sp>
      <p:sp>
        <p:nvSpPr>
          <p:cNvPr id="17" name="Text 12"/>
          <p:cNvSpPr/>
          <p:nvPr/>
        </p:nvSpPr>
        <p:spPr>
          <a:xfrm>
            <a:off x="4641420" y="2789947"/>
            <a:ext cx="3017520" cy="274320"/>
          </a:xfrm>
          <a:prstGeom prst="rect">
            <a:avLst/>
          </a:prstGeom>
          <a:noFill/>
          <a:ln/>
        </p:spPr>
        <p:txBody>
          <a:bodyPr wrap="square" lIns="0" tIns="0" rIns="0" bIns="0" rtlCol="0" anchor="ctr"/>
          <a:lstStyle/>
          <a:p>
            <a:pPr marL="0" indent="0" algn="ctr">
              <a:buNone/>
            </a:pPr>
            <a:r>
              <a:rPr lang="en-US" b="1" dirty="0">
                <a:solidFill>
                  <a:srgbClr val="0E7C86"/>
                </a:solidFill>
                <a:latin typeface="Calibri" pitchFamily="34" charset="0"/>
                <a:ea typeface="Calibri" pitchFamily="34" charset="-122"/>
                <a:cs typeface="Calibri" pitchFamily="34" charset="-120"/>
              </a:rPr>
              <a:t>Auth + Firestore</a:t>
            </a:r>
            <a:endParaRPr lang="en-US" dirty="0"/>
          </a:p>
        </p:txBody>
      </p:sp>
      <p:sp>
        <p:nvSpPr>
          <p:cNvPr id="18" name="Text 13"/>
          <p:cNvSpPr/>
          <p:nvPr/>
        </p:nvSpPr>
        <p:spPr>
          <a:xfrm>
            <a:off x="4683408" y="3130048"/>
            <a:ext cx="3017520" cy="457200"/>
          </a:xfrm>
          <a:prstGeom prst="rect">
            <a:avLst/>
          </a:prstGeom>
          <a:noFill/>
          <a:ln/>
        </p:spPr>
        <p:txBody>
          <a:bodyPr wrap="square" lIns="0" tIns="0" rIns="0" bIns="0" rtlCol="0" anchor="ctr"/>
          <a:lstStyle/>
          <a:p>
            <a:pPr marL="0" indent="0" algn="ctr">
              <a:buNone/>
            </a:pPr>
            <a:r>
              <a:rPr lang="en-US" sz="1600" dirty="0">
                <a:solidFill>
                  <a:srgbClr val="5B6B8C"/>
                </a:solidFill>
                <a:latin typeface="Calibri" pitchFamily="34" charset="0"/>
                <a:ea typeface="Calibri" pitchFamily="34" charset="-122"/>
                <a:cs typeface="Calibri" pitchFamily="34" charset="-120"/>
              </a:rPr>
              <a:t>Users, notes &amp; folder</a:t>
            </a:r>
            <a:r>
              <a:rPr lang="en-US" sz="1600" dirty="0"/>
              <a:t> </a:t>
            </a:r>
            <a:r>
              <a:rPr lang="en-US" sz="1600" dirty="0">
                <a:solidFill>
                  <a:srgbClr val="5B6B8C"/>
                </a:solidFill>
                <a:latin typeface="Calibri" pitchFamily="34" charset="0"/>
                <a:ea typeface="Calibri" pitchFamily="34" charset="-122"/>
                <a:cs typeface="Calibri" pitchFamily="34" charset="-120"/>
              </a:rPr>
              <a:t>metadata</a:t>
            </a:r>
            <a:endParaRPr lang="en-US" sz="1600" dirty="0"/>
          </a:p>
        </p:txBody>
      </p:sp>
      <p:sp>
        <p:nvSpPr>
          <p:cNvPr id="19" name="Shape 14"/>
          <p:cNvSpPr>
            <a:spLocks noGrp="1" noRot="1" noMove="1" noResize="1" noEditPoints="1" noAdjustHandles="1" noChangeArrowheads="1" noChangeShapeType="1"/>
          </p:cNvSpPr>
          <p:nvPr/>
        </p:nvSpPr>
        <p:spPr>
          <a:xfrm>
            <a:off x="8366760" y="1783080"/>
            <a:ext cx="3337560" cy="1828800"/>
          </a:xfrm>
          <a:prstGeom prst="roundRect">
            <a:avLst>
              <a:gd name="adj" fmla="val 4500"/>
            </a:avLst>
          </a:prstGeom>
          <a:solidFill>
            <a:srgbClr val="F7F9FC"/>
          </a:solidFill>
          <a:ln/>
          <a:effectLst>
            <a:outerShdw blurRad="101600" dist="38100" dir="5400000" algn="bl" rotWithShape="0">
              <a:srgbClr val="000000">
                <a:alpha val="12000"/>
              </a:srgbClr>
            </a:outerShdw>
          </a:effectLst>
        </p:spPr>
        <p:txBody>
          <a:bodyPr/>
          <a:lstStyle/>
          <a:p>
            <a:endParaRPr lang="en-US"/>
          </a:p>
        </p:txBody>
      </p:sp>
      <p:grpSp>
        <p:nvGrpSpPr>
          <p:cNvPr id="35" name="Group 34">
            <a:extLst>
              <a:ext uri="{FF2B5EF4-FFF2-40B4-BE49-F238E27FC236}">
                <a16:creationId xmlns:a16="http://schemas.microsoft.com/office/drawing/2014/main" id="{29F15D5B-DB7D-4EFC-9D5F-8D3ADF8FCB2F}"/>
              </a:ext>
            </a:extLst>
          </p:cNvPr>
          <p:cNvGrpSpPr/>
          <p:nvPr/>
        </p:nvGrpSpPr>
        <p:grpSpPr>
          <a:xfrm>
            <a:off x="9738516" y="1848451"/>
            <a:ext cx="640080" cy="640080"/>
            <a:chOff x="9715500" y="1797077"/>
            <a:chExt cx="640080" cy="640080"/>
          </a:xfrm>
        </p:grpSpPr>
        <p:sp>
          <p:nvSpPr>
            <p:cNvPr id="20" name="Shape 15"/>
            <p:cNvSpPr/>
            <p:nvPr/>
          </p:nvSpPr>
          <p:spPr>
            <a:xfrm>
              <a:off x="9715500" y="1797077"/>
              <a:ext cx="640080" cy="640080"/>
            </a:xfrm>
            <a:prstGeom prst="ellipse">
              <a:avLst/>
            </a:prstGeom>
            <a:solidFill>
              <a:srgbClr val="E8EDF5"/>
            </a:solidFill>
            <a:ln w="19050">
              <a:solidFill>
                <a:srgbClr val="15233B"/>
              </a:solidFill>
            </a:ln>
          </p:spPr>
          <p:txBody>
            <a:bodyPr/>
            <a:lstStyle/>
            <a:p>
              <a:endParaRPr lang="en-US" dirty="0"/>
            </a:p>
          </p:txBody>
        </p:sp>
        <p:pic>
          <p:nvPicPr>
            <p:cNvPr id="21" name="Image 3" descr="icons/robot_navy.png"/>
            <p:cNvPicPr>
              <a:picLocks noChangeAspect="1"/>
            </p:cNvPicPr>
            <p:nvPr/>
          </p:nvPicPr>
          <p:blipFill>
            <a:blip r:embed="rId6"/>
            <a:stretch>
              <a:fillRect/>
            </a:stretch>
          </p:blipFill>
          <p:spPr>
            <a:xfrm>
              <a:off x="9881921" y="1963498"/>
              <a:ext cx="307238" cy="307238"/>
            </a:xfrm>
            <a:prstGeom prst="rect">
              <a:avLst/>
            </a:prstGeom>
          </p:spPr>
        </p:pic>
      </p:grpSp>
      <p:sp>
        <p:nvSpPr>
          <p:cNvPr id="22" name="Text 16"/>
          <p:cNvSpPr/>
          <p:nvPr/>
        </p:nvSpPr>
        <p:spPr>
          <a:xfrm>
            <a:off x="8549640" y="2506483"/>
            <a:ext cx="2971800" cy="365760"/>
          </a:xfrm>
          <a:prstGeom prst="rect">
            <a:avLst/>
          </a:prstGeom>
          <a:noFill/>
          <a:ln/>
        </p:spPr>
        <p:txBody>
          <a:bodyPr wrap="square" lIns="0" tIns="0" rIns="0" bIns="0" rtlCol="0" anchor="ctr"/>
          <a:lstStyle/>
          <a:p>
            <a:pPr marL="0" indent="0" algn="ctr">
              <a:buNone/>
            </a:pPr>
            <a:r>
              <a:rPr lang="en-US" b="1" dirty="0">
                <a:solidFill>
                  <a:srgbClr val="17213B"/>
                </a:solidFill>
                <a:latin typeface="Cambria" pitchFamily="34" charset="0"/>
                <a:ea typeface="Cambria" pitchFamily="34" charset="-122"/>
                <a:cs typeface="Cambria" pitchFamily="34" charset="-120"/>
              </a:rPr>
              <a:t>Gemini 2.5 Flash</a:t>
            </a:r>
            <a:endParaRPr lang="en-US" dirty="0"/>
          </a:p>
        </p:txBody>
      </p:sp>
      <p:sp>
        <p:nvSpPr>
          <p:cNvPr id="23" name="Text 17"/>
          <p:cNvSpPr/>
          <p:nvPr/>
        </p:nvSpPr>
        <p:spPr>
          <a:xfrm>
            <a:off x="8549640" y="2811407"/>
            <a:ext cx="2971800" cy="274320"/>
          </a:xfrm>
          <a:prstGeom prst="rect">
            <a:avLst/>
          </a:prstGeom>
          <a:noFill/>
          <a:ln/>
        </p:spPr>
        <p:txBody>
          <a:bodyPr wrap="square" lIns="0" tIns="0" rIns="0" bIns="0" rtlCol="0" anchor="ctr"/>
          <a:lstStyle/>
          <a:p>
            <a:pPr marL="0" indent="0" algn="ctr">
              <a:buNone/>
            </a:pPr>
            <a:r>
              <a:rPr lang="en-US" sz="1600" b="1" dirty="0">
                <a:solidFill>
                  <a:srgbClr val="0E7C86"/>
                </a:solidFill>
                <a:latin typeface="Calibri" pitchFamily="34" charset="0"/>
                <a:ea typeface="Calibri" pitchFamily="34" charset="-122"/>
                <a:cs typeface="Calibri" pitchFamily="34" charset="-120"/>
              </a:rPr>
              <a:t>Google AI API</a:t>
            </a:r>
            <a:endParaRPr lang="en-US" sz="1600" dirty="0"/>
          </a:p>
        </p:txBody>
      </p:sp>
      <p:sp>
        <p:nvSpPr>
          <p:cNvPr id="24" name="Text 18"/>
          <p:cNvSpPr/>
          <p:nvPr/>
        </p:nvSpPr>
        <p:spPr>
          <a:xfrm>
            <a:off x="8572656" y="3079843"/>
            <a:ext cx="2971800" cy="457200"/>
          </a:xfrm>
          <a:prstGeom prst="rect">
            <a:avLst/>
          </a:prstGeom>
          <a:noFill/>
          <a:ln/>
        </p:spPr>
        <p:txBody>
          <a:bodyPr wrap="square" lIns="0" tIns="0" rIns="0" bIns="0" rtlCol="0" anchor="ctr"/>
          <a:lstStyle/>
          <a:p>
            <a:pPr marL="0" indent="0" algn="ctr">
              <a:buNone/>
            </a:pPr>
            <a:r>
              <a:rPr lang="en-US" sz="1600" dirty="0">
                <a:solidFill>
                  <a:srgbClr val="5B6B8C"/>
                </a:solidFill>
                <a:latin typeface="Calibri" pitchFamily="34" charset="0"/>
                <a:ea typeface="Calibri" pitchFamily="34" charset="-122"/>
                <a:cs typeface="Calibri" pitchFamily="34" charset="-120"/>
              </a:rPr>
              <a:t>Summarization +</a:t>
            </a:r>
            <a:r>
              <a:rPr lang="en-US" sz="1600" dirty="0"/>
              <a:t> </a:t>
            </a:r>
            <a:r>
              <a:rPr lang="en-US" sz="1600" dirty="0">
                <a:solidFill>
                  <a:srgbClr val="5B6B8C"/>
                </a:solidFill>
                <a:latin typeface="Calibri" pitchFamily="34" charset="0"/>
                <a:ea typeface="Calibri" pitchFamily="34" charset="-122"/>
                <a:cs typeface="Calibri" pitchFamily="34" charset="-120"/>
              </a:rPr>
              <a:t>quiz generation</a:t>
            </a:r>
            <a:endParaRPr lang="en-US" sz="1600" dirty="0"/>
          </a:p>
        </p:txBody>
      </p:sp>
      <p:sp>
        <p:nvSpPr>
          <p:cNvPr id="25" name="Shape 19"/>
          <p:cNvSpPr/>
          <p:nvPr/>
        </p:nvSpPr>
        <p:spPr>
          <a:xfrm>
            <a:off x="3904488" y="2578608"/>
            <a:ext cx="329184" cy="237744"/>
          </a:xfrm>
          <a:prstGeom prst="rightArrow">
            <a:avLst/>
          </a:prstGeom>
          <a:solidFill>
            <a:srgbClr val="F2A93B"/>
          </a:solidFill>
          <a:ln/>
        </p:spPr>
        <p:txBody>
          <a:bodyPr/>
          <a:lstStyle/>
          <a:p>
            <a:endParaRPr lang="en-US"/>
          </a:p>
        </p:txBody>
      </p:sp>
      <p:sp>
        <p:nvSpPr>
          <p:cNvPr id="26" name="Shape 20"/>
          <p:cNvSpPr/>
          <p:nvPr/>
        </p:nvSpPr>
        <p:spPr>
          <a:xfrm>
            <a:off x="7836408" y="2578608"/>
            <a:ext cx="329184" cy="237744"/>
          </a:xfrm>
          <a:prstGeom prst="rightArrow">
            <a:avLst/>
          </a:prstGeom>
          <a:solidFill>
            <a:srgbClr val="F2A93B"/>
          </a:solidFill>
          <a:ln/>
        </p:spPr>
        <p:txBody>
          <a:bodyPr/>
          <a:lstStyle/>
          <a:p>
            <a:endParaRPr lang="en-US"/>
          </a:p>
        </p:txBody>
      </p:sp>
      <p:sp>
        <p:nvSpPr>
          <p:cNvPr id="27" name="Shape 21"/>
          <p:cNvSpPr/>
          <p:nvPr/>
        </p:nvSpPr>
        <p:spPr>
          <a:xfrm>
            <a:off x="502920" y="3931920"/>
            <a:ext cx="11201400" cy="1417320"/>
          </a:xfrm>
          <a:prstGeom prst="roundRect">
            <a:avLst>
              <a:gd name="adj" fmla="val 5806"/>
            </a:avLst>
          </a:prstGeom>
          <a:solidFill>
            <a:srgbClr val="1E2F52"/>
          </a:solidFill>
          <a:ln w="1270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28" name="Shape 22"/>
          <p:cNvSpPr/>
          <p:nvPr/>
        </p:nvSpPr>
        <p:spPr>
          <a:xfrm>
            <a:off x="777240" y="4178808"/>
            <a:ext cx="640080" cy="640080"/>
          </a:xfrm>
          <a:prstGeom prst="ellipse">
            <a:avLst/>
          </a:prstGeom>
          <a:solidFill>
            <a:srgbClr val="F2A93B"/>
          </a:solidFill>
          <a:ln/>
        </p:spPr>
        <p:txBody>
          <a:bodyPr/>
          <a:lstStyle/>
          <a:p>
            <a:endParaRPr lang="en-US"/>
          </a:p>
        </p:txBody>
      </p:sp>
      <p:pic>
        <p:nvPicPr>
          <p:cNvPr id="29" name="Image 4" descr="icons/layer_navy.png"/>
          <p:cNvPicPr>
            <a:picLocks noChangeAspect="1"/>
          </p:cNvPicPr>
          <p:nvPr/>
        </p:nvPicPr>
        <p:blipFill>
          <a:blip r:embed="rId7"/>
          <a:stretch>
            <a:fillRect/>
          </a:stretch>
        </p:blipFill>
        <p:spPr>
          <a:xfrm>
            <a:off x="943661" y="4345229"/>
            <a:ext cx="307238" cy="307238"/>
          </a:xfrm>
          <a:prstGeom prst="rect">
            <a:avLst/>
          </a:prstGeom>
        </p:spPr>
      </p:pic>
      <p:sp>
        <p:nvSpPr>
          <p:cNvPr id="30" name="Text 23"/>
          <p:cNvSpPr/>
          <p:nvPr/>
        </p:nvSpPr>
        <p:spPr>
          <a:xfrm>
            <a:off x="1600200" y="4069080"/>
            <a:ext cx="9784080" cy="3200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Local Device Storage (expo-file-system)</a:t>
            </a:r>
            <a:endParaRPr lang="en-US" sz="2000" dirty="0"/>
          </a:p>
        </p:txBody>
      </p:sp>
      <p:sp>
        <p:nvSpPr>
          <p:cNvPr id="31" name="Text 24"/>
          <p:cNvSpPr/>
          <p:nvPr/>
        </p:nvSpPr>
        <p:spPr>
          <a:xfrm>
            <a:off x="1600200" y="4434840"/>
            <a:ext cx="9921240" cy="594360"/>
          </a:xfrm>
          <a:prstGeom prst="rect">
            <a:avLst/>
          </a:prstGeom>
          <a:noFill/>
          <a:ln/>
        </p:spPr>
        <p:txBody>
          <a:bodyPr wrap="square" lIns="0" tIns="0" rIns="0" bIns="0" rtlCol="0" anchor="ctr"/>
          <a:lstStyle/>
          <a:p>
            <a:pPr marL="0" indent="0">
              <a:buNone/>
            </a:pPr>
            <a:r>
              <a:rPr lang="en-US" dirty="0">
                <a:solidFill>
                  <a:srgbClr val="9FB0CE"/>
                </a:solidFill>
                <a:latin typeface="Calibri" pitchFamily="34" charset="0"/>
                <a:ea typeface="Calibri" pitchFamily="34" charset="-122"/>
                <a:cs typeface="Calibri" pitchFamily="34" charset="-120"/>
              </a:rPr>
              <a:t>Actual PDF/image files live here on-device — not inside Firestore. Firestore only stores a relative path reference to each file.</a:t>
            </a:r>
            <a:endParaRPr lang="en-US" dirty="0"/>
          </a:p>
        </p:txBody>
      </p:sp>
      <p:sp>
        <p:nvSpPr>
          <p:cNvPr id="32" name="Text 2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FB0CE"/>
                </a:solidFill>
                <a:latin typeface="Calibri" pitchFamily="34" charset="0"/>
                <a:ea typeface="Calibri" pitchFamily="34" charset="-122"/>
                <a:cs typeface="Calibri" pitchFamily="34" charset="-120"/>
              </a:rPr>
              <a:t>05</a:t>
            </a:r>
            <a:endParaRPr lang="en-US" sz="10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mobile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REACT NATIVE + EXPO</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Frontend</a:t>
            </a:r>
            <a:endParaRPr lang="en-US" sz="3000" dirty="0"/>
          </a:p>
        </p:txBody>
      </p:sp>
      <p:sp>
        <p:nvSpPr>
          <p:cNvPr id="6" name="Shape 3"/>
          <p:cNvSpPr/>
          <p:nvPr/>
        </p:nvSpPr>
        <p:spPr>
          <a:xfrm>
            <a:off x="502920" y="1417320"/>
            <a:ext cx="3657600" cy="4709160"/>
          </a:xfrm>
          <a:prstGeom prst="roundRect">
            <a:avLst>
              <a:gd name="adj" fmla="val 2000"/>
            </a:avLst>
          </a:prstGeom>
          <a:solidFill>
            <a:srgbClr val="15233B"/>
          </a:solidFill>
          <a:ln/>
          <a:effectLst>
            <a:outerShdw blurRad="101600" dist="38100" dir="5400000" algn="bl" rotWithShape="0">
              <a:srgbClr val="000000">
                <a:alpha val="12000"/>
              </a:srgbClr>
            </a:outerShdw>
          </a:effectLst>
        </p:spPr>
        <p:txBody>
          <a:bodyPr/>
          <a:lstStyle/>
          <a:p>
            <a:endParaRPr lang="en-US"/>
          </a:p>
        </p:txBody>
      </p:sp>
      <p:sp>
        <p:nvSpPr>
          <p:cNvPr id="7" name="Text 4"/>
          <p:cNvSpPr/>
          <p:nvPr/>
        </p:nvSpPr>
        <p:spPr>
          <a:xfrm>
            <a:off x="731520" y="1645920"/>
            <a:ext cx="3200400" cy="365760"/>
          </a:xfrm>
          <a:prstGeom prst="rect">
            <a:avLst/>
          </a:prstGeom>
          <a:noFill/>
          <a:ln/>
        </p:spPr>
        <p:txBody>
          <a:bodyPr wrap="square" lIns="0" tIns="0" rIns="0" bIns="0" rtlCol="0" anchor="ctr"/>
          <a:lstStyle/>
          <a:p>
            <a:pPr marL="0" indent="0">
              <a:buNone/>
            </a:pPr>
            <a:r>
              <a:rPr lang="en-US" sz="2000" b="1" dirty="0">
                <a:solidFill>
                  <a:srgbClr val="F2A93B"/>
                </a:solidFill>
                <a:latin typeface="Cambria" pitchFamily="34" charset="0"/>
                <a:ea typeface="Cambria" pitchFamily="34" charset="-122"/>
                <a:cs typeface="Cambria" pitchFamily="34" charset="-120"/>
              </a:rPr>
              <a:t>9 Screens</a:t>
            </a:r>
            <a:endParaRPr lang="en-US" sz="2000" dirty="0"/>
          </a:p>
        </p:txBody>
      </p:sp>
      <p:sp>
        <p:nvSpPr>
          <p:cNvPr id="8" name="Text 5"/>
          <p:cNvSpPr/>
          <p:nvPr/>
        </p:nvSpPr>
        <p:spPr>
          <a:xfrm>
            <a:off x="777240" y="2011680"/>
            <a:ext cx="3108960" cy="3840480"/>
          </a:xfrm>
          <a:prstGeom prst="rect">
            <a:avLst/>
          </a:prstGeom>
          <a:noFill/>
          <a:ln/>
        </p:spPr>
        <p:txBody>
          <a:bodyPr wrap="square" rtlCol="0" anchor="ctr"/>
          <a:lstStyle/>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Login</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Register</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Home</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Add Note</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Note Detail</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Folder Detail</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Profile</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Change Password</a:t>
            </a:r>
            <a:endParaRPr lang="en-US" sz="2000" dirty="0"/>
          </a:p>
          <a:p>
            <a:pPr marL="342900" indent="-342900">
              <a:spcAft>
                <a:spcPts val="700"/>
              </a:spcAft>
              <a:buSzPct val="100000"/>
              <a:buChar char="▸"/>
            </a:pPr>
            <a:r>
              <a:rPr lang="en-US" sz="2000" dirty="0">
                <a:solidFill>
                  <a:srgbClr val="FFFFFF"/>
                </a:solidFill>
                <a:latin typeface="Calibri" pitchFamily="34" charset="0"/>
                <a:ea typeface="Calibri" pitchFamily="34" charset="-122"/>
                <a:cs typeface="Calibri" pitchFamily="34" charset="-120"/>
              </a:rPr>
              <a:t>Quiz</a:t>
            </a:r>
            <a:endParaRPr lang="en-US" sz="2000" dirty="0"/>
          </a:p>
        </p:txBody>
      </p:sp>
      <p:sp>
        <p:nvSpPr>
          <p:cNvPr id="9" name="Shape 6"/>
          <p:cNvSpPr>
            <a:spLocks noGrp="1" noRot="1" noMove="1" noResize="1" noEditPoints="1" noAdjustHandles="1" noChangeArrowheads="1" noChangeShapeType="1"/>
          </p:cNvSpPr>
          <p:nvPr/>
        </p:nvSpPr>
        <p:spPr>
          <a:xfrm>
            <a:off x="4434840" y="1417320"/>
            <a:ext cx="7223760" cy="1399032"/>
          </a:xfrm>
          <a:prstGeom prst="roundRect">
            <a:avLst>
              <a:gd name="adj" fmla="val 522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27" name="Group 26">
            <a:extLst>
              <a:ext uri="{FF2B5EF4-FFF2-40B4-BE49-F238E27FC236}">
                <a16:creationId xmlns:a16="http://schemas.microsoft.com/office/drawing/2014/main" id="{A3203463-1F4E-3BC6-DE0F-11E293CB5FFA}"/>
              </a:ext>
            </a:extLst>
          </p:cNvPr>
          <p:cNvGrpSpPr/>
          <p:nvPr/>
        </p:nvGrpSpPr>
        <p:grpSpPr>
          <a:xfrm>
            <a:off x="4567428" y="1659636"/>
            <a:ext cx="918972" cy="918972"/>
            <a:chOff x="4663440" y="1796796"/>
            <a:chExt cx="640080" cy="640080"/>
          </a:xfrm>
        </p:grpSpPr>
        <p:sp>
          <p:nvSpPr>
            <p:cNvPr id="10" name="Shape 7"/>
            <p:cNvSpPr/>
            <p:nvPr/>
          </p:nvSpPr>
          <p:spPr>
            <a:xfrm>
              <a:off x="4663440" y="1796796"/>
              <a:ext cx="640080" cy="640080"/>
            </a:xfrm>
            <a:prstGeom prst="ellipse">
              <a:avLst/>
            </a:prstGeom>
            <a:solidFill>
              <a:srgbClr val="E8F4F5"/>
            </a:solidFill>
            <a:ln w="19050">
              <a:solidFill>
                <a:srgbClr val="0E7C86"/>
              </a:solidFill>
            </a:ln>
          </p:spPr>
          <p:txBody>
            <a:bodyPr/>
            <a:lstStyle/>
            <a:p>
              <a:endParaRPr lang="en-US"/>
            </a:p>
          </p:txBody>
        </p:sp>
        <p:pic>
          <p:nvPicPr>
            <p:cNvPr id="11" name="Image 1" descr="icons/moon_teal.png"/>
            <p:cNvPicPr>
              <a:picLocks noChangeAspect="1"/>
            </p:cNvPicPr>
            <p:nvPr/>
          </p:nvPicPr>
          <p:blipFill>
            <a:blip r:embed="rId4"/>
            <a:stretch>
              <a:fillRect/>
            </a:stretch>
          </p:blipFill>
          <p:spPr>
            <a:xfrm>
              <a:off x="4829861" y="1963217"/>
              <a:ext cx="307238" cy="307238"/>
            </a:xfrm>
            <a:prstGeom prst="rect">
              <a:avLst/>
            </a:prstGeom>
          </p:spPr>
        </p:pic>
      </p:grpSp>
      <p:sp>
        <p:nvSpPr>
          <p:cNvPr id="12" name="Text 8"/>
          <p:cNvSpPr/>
          <p:nvPr/>
        </p:nvSpPr>
        <p:spPr>
          <a:xfrm>
            <a:off x="5618988" y="1568196"/>
            <a:ext cx="5943600" cy="32004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App-Wide Theme System</a:t>
            </a:r>
            <a:endParaRPr lang="en-US" sz="2000" dirty="0"/>
          </a:p>
        </p:txBody>
      </p:sp>
      <p:sp>
        <p:nvSpPr>
          <p:cNvPr id="13" name="Text 9"/>
          <p:cNvSpPr/>
          <p:nvPr/>
        </p:nvSpPr>
        <p:spPr>
          <a:xfrm>
            <a:off x="5577840" y="1970999"/>
            <a:ext cx="6080760" cy="667512"/>
          </a:xfrm>
          <a:prstGeom prst="rect">
            <a:avLst/>
          </a:prstGeom>
          <a:noFill/>
          <a:ln/>
        </p:spPr>
        <p:txBody>
          <a:bodyPr wrap="square" lIns="0" tIns="0" rIns="0" bIns="0" rtlCol="0" anchor="t"/>
          <a:lstStyle/>
          <a:p>
            <a:pPr marL="0" indent="0">
              <a:buNone/>
            </a:pPr>
            <a:r>
              <a:rPr lang="en-US" sz="1600" dirty="0">
                <a:solidFill>
                  <a:srgbClr val="5B6B8C"/>
                </a:solidFill>
                <a:latin typeface="Calibri" pitchFamily="34" charset="0"/>
                <a:ea typeface="Calibri" pitchFamily="34" charset="-122"/>
                <a:cs typeface="Calibri" pitchFamily="34" charset="-120"/>
              </a:rPr>
              <a:t>ThemeContext + AsyncStorage persistence. Every screen uses a createStyles(colors) function — dark/light mode is a real architectural decision, not one hardcoded screen.</a:t>
            </a:r>
            <a:endParaRPr lang="en-US" sz="1600" dirty="0"/>
          </a:p>
        </p:txBody>
      </p:sp>
      <p:sp>
        <p:nvSpPr>
          <p:cNvPr id="14" name="Shape 10"/>
          <p:cNvSpPr>
            <a:spLocks noGrp="1" noRot="1" noMove="1" noResize="1" noEditPoints="1" noAdjustHandles="1" noChangeArrowheads="1" noChangeShapeType="1"/>
          </p:cNvSpPr>
          <p:nvPr/>
        </p:nvSpPr>
        <p:spPr>
          <a:xfrm>
            <a:off x="4434840" y="2999232"/>
            <a:ext cx="7223760" cy="1399032"/>
          </a:xfrm>
          <a:prstGeom prst="roundRect">
            <a:avLst>
              <a:gd name="adj" fmla="val 522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26" name="Group 25">
            <a:extLst>
              <a:ext uri="{FF2B5EF4-FFF2-40B4-BE49-F238E27FC236}">
                <a16:creationId xmlns:a16="http://schemas.microsoft.com/office/drawing/2014/main" id="{3EDB598B-6CC8-2F05-2915-B4C7DB14534F}"/>
              </a:ext>
            </a:extLst>
          </p:cNvPr>
          <p:cNvGrpSpPr/>
          <p:nvPr/>
        </p:nvGrpSpPr>
        <p:grpSpPr>
          <a:xfrm>
            <a:off x="4567428" y="3241548"/>
            <a:ext cx="918972" cy="918972"/>
            <a:chOff x="4663440" y="3378708"/>
            <a:chExt cx="640080" cy="640080"/>
          </a:xfrm>
        </p:grpSpPr>
        <p:sp>
          <p:nvSpPr>
            <p:cNvPr id="15" name="Shape 11"/>
            <p:cNvSpPr/>
            <p:nvPr/>
          </p:nvSpPr>
          <p:spPr>
            <a:xfrm>
              <a:off x="4663440" y="3378708"/>
              <a:ext cx="640080" cy="640080"/>
            </a:xfrm>
            <a:prstGeom prst="ellipse">
              <a:avLst/>
            </a:prstGeom>
            <a:solidFill>
              <a:srgbClr val="E8F4F5"/>
            </a:solidFill>
            <a:ln w="19050">
              <a:solidFill>
                <a:srgbClr val="0E7C86"/>
              </a:solidFill>
            </a:ln>
          </p:spPr>
          <p:txBody>
            <a:bodyPr/>
            <a:lstStyle/>
            <a:p>
              <a:endParaRPr lang="en-US"/>
            </a:p>
          </p:txBody>
        </p:sp>
        <p:pic>
          <p:nvPicPr>
            <p:cNvPr id="16" name="Image 2" descr="icons/search_teal.png"/>
            <p:cNvPicPr>
              <a:picLocks noChangeAspect="1"/>
            </p:cNvPicPr>
            <p:nvPr/>
          </p:nvPicPr>
          <p:blipFill>
            <a:blip r:embed="rId5"/>
            <a:stretch>
              <a:fillRect/>
            </a:stretch>
          </p:blipFill>
          <p:spPr>
            <a:xfrm>
              <a:off x="4829861" y="3545129"/>
              <a:ext cx="307238" cy="307238"/>
            </a:xfrm>
            <a:prstGeom prst="rect">
              <a:avLst/>
            </a:prstGeom>
          </p:spPr>
        </p:pic>
      </p:grpSp>
      <p:sp>
        <p:nvSpPr>
          <p:cNvPr id="17" name="Text 12"/>
          <p:cNvSpPr/>
          <p:nvPr/>
        </p:nvSpPr>
        <p:spPr>
          <a:xfrm>
            <a:off x="5577840" y="3155053"/>
            <a:ext cx="5943600" cy="32004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Search &amp; Sort</a:t>
            </a:r>
            <a:endParaRPr lang="en-US" sz="2000" dirty="0"/>
          </a:p>
        </p:txBody>
      </p:sp>
      <p:sp>
        <p:nvSpPr>
          <p:cNvPr id="18" name="Text 13"/>
          <p:cNvSpPr/>
          <p:nvPr/>
        </p:nvSpPr>
        <p:spPr>
          <a:xfrm>
            <a:off x="5572172" y="3534342"/>
            <a:ext cx="5943600" cy="804672"/>
          </a:xfrm>
          <a:prstGeom prst="rect">
            <a:avLst/>
          </a:prstGeom>
          <a:noFill/>
          <a:ln/>
        </p:spPr>
        <p:txBody>
          <a:bodyPr wrap="square" lIns="0" tIns="0" rIns="0" bIns="0" rtlCol="0" anchor="t"/>
          <a:lstStyle/>
          <a:p>
            <a:pPr marL="0" indent="0">
              <a:buNone/>
            </a:pPr>
            <a:r>
              <a:rPr lang="en-US" sz="1600" dirty="0">
                <a:solidFill>
                  <a:srgbClr val="5B6B8C"/>
                </a:solidFill>
                <a:latin typeface="Calibri" pitchFamily="34" charset="0"/>
                <a:ea typeface="Calibri" pitchFamily="34" charset="-122"/>
                <a:cs typeface="Calibri" pitchFamily="34" charset="-120"/>
              </a:rPr>
              <a:t>Notes searchable by title, folders by name — ranked so titles starting with the query appear before ones that merely contain it.</a:t>
            </a:r>
            <a:endParaRPr lang="en-US" sz="1600" dirty="0"/>
          </a:p>
        </p:txBody>
      </p:sp>
      <p:sp>
        <p:nvSpPr>
          <p:cNvPr id="19" name="Shape 14"/>
          <p:cNvSpPr>
            <a:spLocks noGrp="1" noRot="1" noMove="1" noResize="1" noEditPoints="1" noAdjustHandles="1" noChangeArrowheads="1" noChangeShapeType="1"/>
          </p:cNvSpPr>
          <p:nvPr/>
        </p:nvSpPr>
        <p:spPr>
          <a:xfrm>
            <a:off x="4434840" y="4581144"/>
            <a:ext cx="7223760" cy="1399032"/>
          </a:xfrm>
          <a:prstGeom prst="roundRect">
            <a:avLst>
              <a:gd name="adj" fmla="val 522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25" name="Group 24">
            <a:extLst>
              <a:ext uri="{FF2B5EF4-FFF2-40B4-BE49-F238E27FC236}">
                <a16:creationId xmlns:a16="http://schemas.microsoft.com/office/drawing/2014/main" id="{7F0502EC-4C93-222A-D541-9316266C3332}"/>
              </a:ext>
            </a:extLst>
          </p:cNvPr>
          <p:cNvGrpSpPr/>
          <p:nvPr/>
        </p:nvGrpSpPr>
        <p:grpSpPr>
          <a:xfrm>
            <a:off x="4567428" y="4817955"/>
            <a:ext cx="916266" cy="916266"/>
            <a:chOff x="4663440" y="4960620"/>
            <a:chExt cx="640080" cy="640080"/>
          </a:xfrm>
        </p:grpSpPr>
        <p:sp>
          <p:nvSpPr>
            <p:cNvPr id="20" name="Shape 15"/>
            <p:cNvSpPr/>
            <p:nvPr/>
          </p:nvSpPr>
          <p:spPr>
            <a:xfrm>
              <a:off x="4663440" y="4960620"/>
              <a:ext cx="640080" cy="640080"/>
            </a:xfrm>
            <a:prstGeom prst="ellipse">
              <a:avLst/>
            </a:prstGeom>
            <a:solidFill>
              <a:srgbClr val="E8F4F5"/>
            </a:solidFill>
            <a:ln w="19050">
              <a:solidFill>
                <a:srgbClr val="0E7C86"/>
              </a:solidFill>
            </a:ln>
          </p:spPr>
          <p:txBody>
            <a:bodyPr/>
            <a:lstStyle/>
            <a:p>
              <a:endParaRPr lang="en-US" dirty="0"/>
            </a:p>
          </p:txBody>
        </p:sp>
        <p:pic>
          <p:nvPicPr>
            <p:cNvPr id="21" name="Image 3" descr="icons/thumbtack_teal.png"/>
            <p:cNvPicPr>
              <a:picLocks noChangeAspect="1"/>
            </p:cNvPicPr>
            <p:nvPr/>
          </p:nvPicPr>
          <p:blipFill>
            <a:blip r:embed="rId6"/>
            <a:stretch>
              <a:fillRect/>
            </a:stretch>
          </p:blipFill>
          <p:spPr>
            <a:xfrm>
              <a:off x="4829861" y="5127041"/>
              <a:ext cx="307238" cy="307238"/>
            </a:xfrm>
            <a:prstGeom prst="rect">
              <a:avLst/>
            </a:prstGeom>
          </p:spPr>
        </p:pic>
      </p:grpSp>
      <p:sp>
        <p:nvSpPr>
          <p:cNvPr id="22" name="Text 16"/>
          <p:cNvSpPr/>
          <p:nvPr/>
        </p:nvSpPr>
        <p:spPr>
          <a:xfrm>
            <a:off x="5572172" y="4736144"/>
            <a:ext cx="5943600" cy="32004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Organization Tools</a:t>
            </a:r>
            <a:endParaRPr lang="en-US" sz="2000" dirty="0"/>
          </a:p>
        </p:txBody>
      </p:sp>
      <p:sp>
        <p:nvSpPr>
          <p:cNvPr id="23" name="Text 17"/>
          <p:cNvSpPr/>
          <p:nvPr/>
        </p:nvSpPr>
        <p:spPr>
          <a:xfrm>
            <a:off x="5572172" y="5128963"/>
            <a:ext cx="5943600" cy="804672"/>
          </a:xfrm>
          <a:prstGeom prst="rect">
            <a:avLst/>
          </a:prstGeom>
          <a:noFill/>
          <a:ln/>
        </p:spPr>
        <p:txBody>
          <a:bodyPr wrap="square" lIns="0" tIns="0" rIns="0" bIns="0" rtlCol="0" anchor="t"/>
          <a:lstStyle/>
          <a:p>
            <a:pPr marL="0" indent="0">
              <a:buNone/>
            </a:pPr>
            <a:r>
              <a:rPr lang="en-US" sz="1600" dirty="0">
                <a:solidFill>
                  <a:srgbClr val="5B6B8C"/>
                </a:solidFill>
                <a:latin typeface="Calibri" pitchFamily="34" charset="0"/>
                <a:ea typeface="Calibri" pitchFamily="34" charset="-122"/>
                <a:cs typeface="Calibri" pitchFamily="34" charset="-120"/>
              </a:rPr>
              <a:t>Pin important notes, group into folders, rename notes/folders, duplicate-title prevention.</a:t>
            </a:r>
            <a:endParaRPr lang="en-US" sz="1600" dirty="0"/>
          </a:p>
        </p:txBody>
      </p:sp>
      <p:sp>
        <p:nvSpPr>
          <p:cNvPr id="24" name="Text 1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06</a:t>
            </a:r>
            <a:endParaRPr lang="en-US" sz="10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server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FIREBASE + LOCAL STORAGE</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Backend</a:t>
            </a:r>
            <a:endParaRPr lang="en-US" sz="3000" dirty="0"/>
          </a:p>
        </p:txBody>
      </p:sp>
      <p:sp>
        <p:nvSpPr>
          <p:cNvPr id="6" name="Shape 3"/>
          <p:cNvSpPr>
            <a:spLocks noGrp="1" noRot="1" noMove="1" noResize="1" noEditPoints="1" noAdjustHandles="1" noChangeArrowheads="1" noChangeShapeType="1"/>
          </p:cNvSpPr>
          <p:nvPr/>
        </p:nvSpPr>
        <p:spPr>
          <a:xfrm>
            <a:off x="502920" y="1417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27" name="Group 26">
            <a:extLst>
              <a:ext uri="{FF2B5EF4-FFF2-40B4-BE49-F238E27FC236}">
                <a16:creationId xmlns:a16="http://schemas.microsoft.com/office/drawing/2014/main" id="{E0318A63-2C87-579D-8291-AE7D181780C7}"/>
              </a:ext>
            </a:extLst>
          </p:cNvPr>
          <p:cNvGrpSpPr/>
          <p:nvPr/>
        </p:nvGrpSpPr>
        <p:grpSpPr>
          <a:xfrm>
            <a:off x="650321" y="1517904"/>
            <a:ext cx="740664" cy="740664"/>
            <a:chOff x="777240" y="1691640"/>
            <a:chExt cx="566928" cy="566928"/>
          </a:xfrm>
        </p:grpSpPr>
        <p:sp>
          <p:nvSpPr>
            <p:cNvPr id="7" name="Shape 4"/>
            <p:cNvSpPr/>
            <p:nvPr/>
          </p:nvSpPr>
          <p:spPr>
            <a:xfrm>
              <a:off x="777240" y="1691640"/>
              <a:ext cx="566928" cy="566928"/>
            </a:xfrm>
            <a:prstGeom prst="ellipse">
              <a:avLst/>
            </a:prstGeom>
            <a:solidFill>
              <a:srgbClr val="E8EDF5"/>
            </a:solidFill>
            <a:ln w="19050">
              <a:solidFill>
                <a:srgbClr val="15233B"/>
              </a:solidFill>
            </a:ln>
          </p:spPr>
          <p:txBody>
            <a:bodyPr/>
            <a:lstStyle/>
            <a:p>
              <a:endParaRPr lang="en-US"/>
            </a:p>
          </p:txBody>
        </p:sp>
        <p:pic>
          <p:nvPicPr>
            <p:cNvPr id="8" name="Image 1" descr="icons/lock_navy.png"/>
            <p:cNvPicPr>
              <a:picLocks noChangeAspect="1"/>
            </p:cNvPicPr>
            <p:nvPr/>
          </p:nvPicPr>
          <p:blipFill>
            <a:blip r:embed="rId4"/>
            <a:stretch>
              <a:fillRect/>
            </a:stretch>
          </p:blipFill>
          <p:spPr>
            <a:xfrm>
              <a:off x="924641" y="1839041"/>
              <a:ext cx="272125" cy="272125"/>
            </a:xfrm>
            <a:prstGeom prst="rect">
              <a:avLst/>
            </a:prstGeom>
          </p:spPr>
        </p:pic>
      </p:grpSp>
      <p:sp>
        <p:nvSpPr>
          <p:cNvPr id="9" name="Text 5"/>
          <p:cNvSpPr/>
          <p:nvPr/>
        </p:nvSpPr>
        <p:spPr>
          <a:xfrm>
            <a:off x="1538386" y="1605320"/>
            <a:ext cx="3840480" cy="384048"/>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Authentication</a:t>
            </a:r>
            <a:endParaRPr lang="en-US" sz="2000" dirty="0"/>
          </a:p>
        </p:txBody>
      </p:sp>
      <p:sp>
        <p:nvSpPr>
          <p:cNvPr id="10" name="Text 6"/>
          <p:cNvSpPr/>
          <p:nvPr/>
        </p:nvSpPr>
        <p:spPr>
          <a:xfrm>
            <a:off x="777240" y="2293925"/>
            <a:ext cx="4526280" cy="86868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Firebase Auth — email/password sign-up &amp; login, session persistence, password change with re-authentication.</a:t>
            </a:r>
            <a:endParaRPr lang="en-US" dirty="0">
              <a:latin typeface="Cambria" panose="02040503050406030204" pitchFamily="18" charset="0"/>
              <a:ea typeface="Cambria" panose="02040503050406030204" pitchFamily="18" charset="0"/>
            </a:endParaRPr>
          </a:p>
        </p:txBody>
      </p:sp>
      <p:sp>
        <p:nvSpPr>
          <p:cNvPr id="11" name="Shape 7"/>
          <p:cNvSpPr>
            <a:spLocks noGrp="1" noRot="1" noMove="1" noResize="1" noEditPoints="1" noAdjustHandles="1" noChangeArrowheads="1" noChangeShapeType="1"/>
          </p:cNvSpPr>
          <p:nvPr/>
        </p:nvSpPr>
        <p:spPr>
          <a:xfrm>
            <a:off x="6035040" y="1417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30" name="Group 29">
            <a:extLst>
              <a:ext uri="{FF2B5EF4-FFF2-40B4-BE49-F238E27FC236}">
                <a16:creationId xmlns:a16="http://schemas.microsoft.com/office/drawing/2014/main" id="{03D672ED-C5D5-6F86-A7A0-D8505B703AFC}"/>
              </a:ext>
            </a:extLst>
          </p:cNvPr>
          <p:cNvGrpSpPr/>
          <p:nvPr/>
        </p:nvGrpSpPr>
        <p:grpSpPr>
          <a:xfrm>
            <a:off x="6227062" y="1540764"/>
            <a:ext cx="731520" cy="731520"/>
            <a:chOff x="6309360" y="1691640"/>
            <a:chExt cx="566928" cy="566928"/>
          </a:xfrm>
        </p:grpSpPr>
        <p:sp>
          <p:nvSpPr>
            <p:cNvPr id="12" name="Shape 8"/>
            <p:cNvSpPr/>
            <p:nvPr/>
          </p:nvSpPr>
          <p:spPr>
            <a:xfrm>
              <a:off x="6309360" y="1691640"/>
              <a:ext cx="566928" cy="566928"/>
            </a:xfrm>
            <a:prstGeom prst="ellipse">
              <a:avLst/>
            </a:prstGeom>
            <a:solidFill>
              <a:srgbClr val="E8EDF5"/>
            </a:solidFill>
            <a:ln w="19050">
              <a:solidFill>
                <a:srgbClr val="374359"/>
              </a:solidFill>
            </a:ln>
          </p:spPr>
          <p:txBody>
            <a:bodyPr/>
            <a:lstStyle/>
            <a:p>
              <a:endParaRPr lang="en-US"/>
            </a:p>
          </p:txBody>
        </p:sp>
        <p:pic>
          <p:nvPicPr>
            <p:cNvPr id="13" name="Image 2" descr="icons/db_navy.png"/>
            <p:cNvPicPr>
              <a:picLocks noChangeAspect="1"/>
            </p:cNvPicPr>
            <p:nvPr/>
          </p:nvPicPr>
          <p:blipFill>
            <a:blip r:embed="rId5"/>
            <a:stretch>
              <a:fillRect/>
            </a:stretch>
          </p:blipFill>
          <p:spPr>
            <a:xfrm>
              <a:off x="6456761" y="1839041"/>
              <a:ext cx="272125" cy="272125"/>
            </a:xfrm>
            <a:prstGeom prst="rect">
              <a:avLst/>
            </a:prstGeom>
          </p:spPr>
        </p:pic>
      </p:grpSp>
      <p:sp>
        <p:nvSpPr>
          <p:cNvPr id="14" name="Text 9"/>
          <p:cNvSpPr/>
          <p:nvPr/>
        </p:nvSpPr>
        <p:spPr>
          <a:xfrm>
            <a:off x="7114031" y="1690785"/>
            <a:ext cx="3840480" cy="384048"/>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Cloud Firestore</a:t>
            </a:r>
            <a:endParaRPr lang="en-US" sz="2000" dirty="0"/>
          </a:p>
        </p:txBody>
      </p:sp>
      <p:sp>
        <p:nvSpPr>
          <p:cNvPr id="15" name="Text 10"/>
          <p:cNvSpPr/>
          <p:nvPr/>
        </p:nvSpPr>
        <p:spPr>
          <a:xfrm>
            <a:off x="6309360" y="2301543"/>
            <a:ext cx="4526280" cy="86868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Notes (title, type, pinned, summarized, summary, createdAt, filePath), folders (name, noteIds[]), and users collections.</a:t>
            </a:r>
            <a:endParaRPr lang="en-US" dirty="0">
              <a:latin typeface="Cambria" panose="02040503050406030204" pitchFamily="18" charset="0"/>
              <a:ea typeface="Cambria" panose="02040503050406030204" pitchFamily="18" charset="0"/>
            </a:endParaRPr>
          </a:p>
        </p:txBody>
      </p:sp>
      <p:sp>
        <p:nvSpPr>
          <p:cNvPr id="16" name="Shape 11"/>
          <p:cNvSpPr>
            <a:spLocks noGrp="1" noRot="1" noMove="1" noResize="1" noEditPoints="1" noAdjustHandles="1" noChangeArrowheads="1" noChangeShapeType="1"/>
          </p:cNvSpPr>
          <p:nvPr/>
        </p:nvSpPr>
        <p:spPr>
          <a:xfrm>
            <a:off x="502920" y="3703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28" name="Group 27">
            <a:extLst>
              <a:ext uri="{FF2B5EF4-FFF2-40B4-BE49-F238E27FC236}">
                <a16:creationId xmlns:a16="http://schemas.microsoft.com/office/drawing/2014/main" id="{AF7A1B0E-0986-4358-6CC2-6783741251F8}"/>
              </a:ext>
            </a:extLst>
          </p:cNvPr>
          <p:cNvGrpSpPr/>
          <p:nvPr/>
        </p:nvGrpSpPr>
        <p:grpSpPr>
          <a:xfrm>
            <a:off x="650321" y="3764280"/>
            <a:ext cx="701040" cy="701040"/>
            <a:chOff x="777240" y="3977640"/>
            <a:chExt cx="566928" cy="566928"/>
          </a:xfrm>
        </p:grpSpPr>
        <p:sp>
          <p:nvSpPr>
            <p:cNvPr id="17" name="Shape 12"/>
            <p:cNvSpPr/>
            <p:nvPr/>
          </p:nvSpPr>
          <p:spPr>
            <a:xfrm>
              <a:off x="777240" y="3977640"/>
              <a:ext cx="566928" cy="566928"/>
            </a:xfrm>
            <a:prstGeom prst="ellipse">
              <a:avLst/>
            </a:prstGeom>
            <a:solidFill>
              <a:srgbClr val="E8EDF5"/>
            </a:solidFill>
            <a:ln w="19050">
              <a:solidFill>
                <a:srgbClr val="15233C"/>
              </a:solidFill>
            </a:ln>
          </p:spPr>
          <p:txBody>
            <a:bodyPr/>
            <a:lstStyle/>
            <a:p>
              <a:endParaRPr lang="en-US" dirty="0"/>
            </a:p>
          </p:txBody>
        </p:sp>
        <p:pic>
          <p:nvPicPr>
            <p:cNvPr id="18" name="Image 3" descr="icons/code_navy.png"/>
            <p:cNvPicPr>
              <a:picLocks noChangeAspect="1"/>
            </p:cNvPicPr>
            <p:nvPr/>
          </p:nvPicPr>
          <p:blipFill>
            <a:blip r:embed="rId6"/>
            <a:stretch>
              <a:fillRect/>
            </a:stretch>
          </p:blipFill>
          <p:spPr>
            <a:xfrm>
              <a:off x="924641" y="4125041"/>
              <a:ext cx="272125" cy="272125"/>
            </a:xfrm>
            <a:prstGeom prst="rect">
              <a:avLst/>
            </a:prstGeom>
          </p:spPr>
        </p:pic>
      </p:grpSp>
      <p:sp>
        <p:nvSpPr>
          <p:cNvPr id="19" name="Text 13"/>
          <p:cNvSpPr/>
          <p:nvPr/>
        </p:nvSpPr>
        <p:spPr>
          <a:xfrm>
            <a:off x="1541556" y="3922775"/>
            <a:ext cx="3840480" cy="384048"/>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Full CRUD</a:t>
            </a:r>
            <a:endParaRPr lang="en-US" sz="2000" dirty="0"/>
          </a:p>
        </p:txBody>
      </p:sp>
      <p:sp>
        <p:nvSpPr>
          <p:cNvPr id="20" name="Text 14"/>
          <p:cNvSpPr/>
          <p:nvPr/>
        </p:nvSpPr>
        <p:spPr>
          <a:xfrm>
            <a:off x="777240" y="4564380"/>
            <a:ext cx="4526280" cy="86868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Create, read, update, and delete implemented for notes, folders, and profile — using addDoc, updateDoc, arrayUnion/arrayRemove, deleteDoc.</a:t>
            </a:r>
            <a:endParaRPr lang="en-US" dirty="0">
              <a:latin typeface="Cambria" panose="02040503050406030204" pitchFamily="18" charset="0"/>
              <a:ea typeface="Cambria" panose="02040503050406030204" pitchFamily="18" charset="0"/>
            </a:endParaRPr>
          </a:p>
        </p:txBody>
      </p:sp>
      <p:sp>
        <p:nvSpPr>
          <p:cNvPr id="21" name="Shape 15"/>
          <p:cNvSpPr>
            <a:spLocks noGrp="1" noRot="1" noMove="1" noResize="1" noEditPoints="1" noAdjustHandles="1" noChangeArrowheads="1" noChangeShapeType="1"/>
          </p:cNvSpPr>
          <p:nvPr/>
        </p:nvSpPr>
        <p:spPr>
          <a:xfrm>
            <a:off x="6035040" y="3703320"/>
            <a:ext cx="5074920" cy="1965960"/>
          </a:xfrm>
          <a:prstGeom prst="roundRect">
            <a:avLst>
              <a:gd name="adj" fmla="val 3721"/>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29" name="Group 28">
            <a:extLst>
              <a:ext uri="{FF2B5EF4-FFF2-40B4-BE49-F238E27FC236}">
                <a16:creationId xmlns:a16="http://schemas.microsoft.com/office/drawing/2014/main" id="{D3FD0D5C-83E7-EBF3-2CA9-D5435B23E71D}"/>
              </a:ext>
            </a:extLst>
          </p:cNvPr>
          <p:cNvGrpSpPr/>
          <p:nvPr/>
        </p:nvGrpSpPr>
        <p:grpSpPr>
          <a:xfrm>
            <a:off x="6227063" y="3816096"/>
            <a:ext cx="731520" cy="731520"/>
            <a:chOff x="6309360" y="3977640"/>
            <a:chExt cx="566928" cy="566928"/>
          </a:xfrm>
        </p:grpSpPr>
        <p:sp>
          <p:nvSpPr>
            <p:cNvPr id="22" name="Shape 16"/>
            <p:cNvSpPr/>
            <p:nvPr/>
          </p:nvSpPr>
          <p:spPr>
            <a:xfrm>
              <a:off x="6309360" y="3977640"/>
              <a:ext cx="566928" cy="566928"/>
            </a:xfrm>
            <a:prstGeom prst="ellipse">
              <a:avLst/>
            </a:prstGeom>
            <a:solidFill>
              <a:srgbClr val="E8EDF5"/>
            </a:solidFill>
            <a:ln w="19050">
              <a:solidFill>
                <a:srgbClr val="15233C"/>
              </a:solidFill>
            </a:ln>
          </p:spPr>
          <p:txBody>
            <a:bodyPr/>
            <a:lstStyle/>
            <a:p>
              <a:endParaRPr lang="en-US"/>
            </a:p>
          </p:txBody>
        </p:sp>
        <p:pic>
          <p:nvPicPr>
            <p:cNvPr id="23" name="Image 4" descr="icons/layer_navy.png"/>
            <p:cNvPicPr>
              <a:picLocks noChangeAspect="1"/>
            </p:cNvPicPr>
            <p:nvPr/>
          </p:nvPicPr>
          <p:blipFill>
            <a:blip r:embed="rId7"/>
            <a:stretch>
              <a:fillRect/>
            </a:stretch>
          </p:blipFill>
          <p:spPr>
            <a:xfrm>
              <a:off x="6456761" y="4125041"/>
              <a:ext cx="272125" cy="272125"/>
            </a:xfrm>
            <a:prstGeom prst="rect">
              <a:avLst/>
            </a:prstGeom>
          </p:spPr>
        </p:pic>
      </p:grpSp>
      <p:sp>
        <p:nvSpPr>
          <p:cNvPr id="24" name="Text 17"/>
          <p:cNvSpPr/>
          <p:nvPr/>
        </p:nvSpPr>
        <p:spPr>
          <a:xfrm>
            <a:off x="7114031" y="3922775"/>
            <a:ext cx="3840480" cy="384048"/>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Local File Storage</a:t>
            </a:r>
            <a:endParaRPr lang="en-US" sz="2000" dirty="0"/>
          </a:p>
        </p:txBody>
      </p:sp>
      <p:sp>
        <p:nvSpPr>
          <p:cNvPr id="25" name="Text 18"/>
          <p:cNvSpPr/>
          <p:nvPr/>
        </p:nvSpPr>
        <p:spPr>
          <a:xfrm>
            <a:off x="6309360" y="4626863"/>
            <a:ext cx="4526280" cy="868680"/>
          </a:xfrm>
          <a:prstGeom prst="rect">
            <a:avLst/>
          </a:prstGeom>
          <a:noFill/>
          <a:ln/>
        </p:spPr>
        <p:txBody>
          <a:bodyPr wrap="square" lIns="0" tIns="0" rIns="0" bIns="0" rtlCol="0" anchor="t"/>
          <a:lstStyle/>
          <a:p>
            <a:pPr marL="0" indent="0">
              <a:buNone/>
            </a:pPr>
            <a:r>
              <a:rPr lang="en-US" dirty="0">
                <a:solidFill>
                  <a:srgbClr val="5B6B8C"/>
                </a:solidFill>
                <a:latin typeface="Cambria" panose="02040503050406030204" pitchFamily="18" charset="0"/>
                <a:ea typeface="Cambria" panose="02040503050406030204" pitchFamily="18" charset="0"/>
                <a:cs typeface="Calibri" pitchFamily="34" charset="-120"/>
              </a:rPr>
              <a:t>expo-file-system manages actual PDF/image bytes on-device, referenced by relative path in Firestore.</a:t>
            </a:r>
            <a:endParaRPr lang="en-US" dirty="0">
              <a:latin typeface="Cambria" panose="02040503050406030204" pitchFamily="18" charset="0"/>
              <a:ea typeface="Cambria" panose="02040503050406030204" pitchFamily="18" charset="0"/>
            </a:endParaRPr>
          </a:p>
        </p:txBody>
      </p:sp>
      <p:sp>
        <p:nvSpPr>
          <p:cNvPr id="26" name="Text 1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07</a:t>
            </a:r>
            <a:endParaRPr lang="en-US" sz="1000"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1828800" y="4572000"/>
            <a:ext cx="4114800" cy="4114800"/>
          </a:xfrm>
          <a:prstGeom prst="ellipse">
            <a:avLst/>
          </a:prstGeom>
          <a:solidFill>
            <a:srgbClr val="1E2F52"/>
          </a:solidFill>
          <a:ln/>
        </p:spPr>
        <p:txBody>
          <a:bodyPr/>
          <a:lstStyle/>
          <a:p>
            <a:endParaRPr lang="en-US"/>
          </a:p>
        </p:txBody>
      </p:sp>
      <p:sp>
        <p:nvSpPr>
          <p:cNvPr id="3" name="Shape 1"/>
          <p:cNvSpPr/>
          <p:nvPr/>
        </p:nvSpPr>
        <p:spPr>
          <a:xfrm>
            <a:off x="502920" y="384048"/>
            <a:ext cx="566928" cy="566928"/>
          </a:xfrm>
          <a:prstGeom prst="ellipse">
            <a:avLst/>
          </a:prstGeom>
          <a:solidFill>
            <a:srgbClr val="1E2F52"/>
          </a:solidFill>
          <a:ln/>
        </p:spPr>
        <p:txBody>
          <a:bodyPr/>
          <a:lstStyle/>
          <a:p>
            <a:endParaRPr lang="en-US"/>
          </a:p>
        </p:txBody>
      </p:sp>
      <p:pic>
        <p:nvPicPr>
          <p:cNvPr id="4" name="Image 0" descr="icons/brain_amber.png"/>
          <p:cNvPicPr>
            <a:picLocks noChangeAspect="1"/>
          </p:cNvPicPr>
          <p:nvPr/>
        </p:nvPicPr>
        <p:blipFill>
          <a:blip r:embed="rId3"/>
          <a:stretch>
            <a:fillRect/>
          </a:stretch>
        </p:blipFill>
        <p:spPr>
          <a:xfrm>
            <a:off x="650321" y="531449"/>
            <a:ext cx="272125" cy="272125"/>
          </a:xfrm>
          <a:prstGeom prst="rect">
            <a:avLst/>
          </a:prstGeom>
        </p:spPr>
      </p:pic>
      <p:sp>
        <p:nvSpPr>
          <p:cNvPr id="5" name="Text 2"/>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AI INTEGRATION · PART 1</a:t>
            </a:r>
            <a:endParaRPr lang="en-US" sz="1200" dirty="0"/>
          </a:p>
        </p:txBody>
      </p:sp>
      <p:sp>
        <p:nvSpPr>
          <p:cNvPr id="6" name="Text 3"/>
          <p:cNvSpPr/>
          <p:nvPr/>
        </p:nvSpPr>
        <p:spPr>
          <a:xfrm>
            <a:off x="1234440" y="603504"/>
            <a:ext cx="100584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AI-Powered Summarization</a:t>
            </a:r>
            <a:endParaRPr lang="en-US" sz="3000" dirty="0"/>
          </a:p>
        </p:txBody>
      </p:sp>
      <p:sp>
        <p:nvSpPr>
          <p:cNvPr id="7" name="Shape 4"/>
          <p:cNvSpPr>
            <a:spLocks noGrp="1" noRot="1" noMove="1" noResize="1" noEditPoints="1" noAdjustHandles="1" noChangeArrowheads="1" noChangeShapeType="1"/>
          </p:cNvSpPr>
          <p:nvPr/>
        </p:nvSpPr>
        <p:spPr>
          <a:xfrm>
            <a:off x="502920" y="1508760"/>
            <a:ext cx="4572000" cy="4800600"/>
          </a:xfrm>
          <a:prstGeom prst="roundRect">
            <a:avLst>
              <a:gd name="adj" fmla="val 1600"/>
            </a:avLst>
          </a:prstGeom>
          <a:solidFill>
            <a:srgbClr val="1E2F52"/>
          </a:solidFill>
          <a:ln/>
          <a:effectLst>
            <a:outerShdw blurRad="101600" dist="38100" dir="5400000" algn="bl" rotWithShape="0">
              <a:srgbClr val="000000">
                <a:alpha val="12000"/>
              </a:srgbClr>
            </a:outerShdw>
          </a:effectLst>
        </p:spPr>
        <p:txBody>
          <a:bodyPr/>
          <a:lstStyle/>
          <a:p>
            <a:endParaRPr lang="en-US"/>
          </a:p>
        </p:txBody>
      </p:sp>
      <p:sp>
        <p:nvSpPr>
          <p:cNvPr id="8" name="Text 5"/>
          <p:cNvSpPr/>
          <p:nvPr/>
        </p:nvSpPr>
        <p:spPr>
          <a:xfrm>
            <a:off x="777240" y="1737360"/>
            <a:ext cx="4023360" cy="256032"/>
          </a:xfrm>
          <a:prstGeom prst="rect">
            <a:avLst/>
          </a:prstGeom>
          <a:noFill/>
          <a:ln/>
        </p:spPr>
        <p:txBody>
          <a:bodyPr wrap="square" lIns="0" tIns="0" rIns="0" bIns="0" rtlCol="0" anchor="ctr"/>
          <a:lstStyle/>
          <a:p>
            <a:pPr marL="0" indent="0">
              <a:buNone/>
            </a:pPr>
            <a:r>
              <a:rPr lang="en-US" sz="2000" b="1" kern="0" spc="100" dirty="0">
                <a:solidFill>
                  <a:srgbClr val="F2A93B"/>
                </a:solidFill>
                <a:latin typeface="Cambria" panose="02040503050406030204" pitchFamily="18" charset="0"/>
                <a:ea typeface="Cambria" panose="02040503050406030204" pitchFamily="18" charset="0"/>
                <a:cs typeface="Calibri" pitchFamily="34" charset="-120"/>
              </a:rPr>
              <a:t>MODEL</a:t>
            </a:r>
            <a:endParaRPr lang="en-US" sz="2000" dirty="0">
              <a:latin typeface="Cambria" panose="02040503050406030204" pitchFamily="18" charset="0"/>
              <a:ea typeface="Cambria" panose="02040503050406030204" pitchFamily="18" charset="0"/>
            </a:endParaRPr>
          </a:p>
        </p:txBody>
      </p:sp>
      <p:sp>
        <p:nvSpPr>
          <p:cNvPr id="9" name="Text 6"/>
          <p:cNvSpPr/>
          <p:nvPr/>
        </p:nvSpPr>
        <p:spPr>
          <a:xfrm>
            <a:off x="777240" y="2110593"/>
            <a:ext cx="4023360" cy="59436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Google Gemini 2.5 Flash (generateContent REST endpoint)</a:t>
            </a:r>
            <a:endParaRPr lang="en-US" sz="2000" dirty="0"/>
          </a:p>
        </p:txBody>
      </p:sp>
      <p:sp>
        <p:nvSpPr>
          <p:cNvPr id="10" name="Text 7"/>
          <p:cNvSpPr/>
          <p:nvPr/>
        </p:nvSpPr>
        <p:spPr>
          <a:xfrm>
            <a:off x="777240" y="2976463"/>
            <a:ext cx="4023360" cy="256032"/>
          </a:xfrm>
          <a:prstGeom prst="rect">
            <a:avLst/>
          </a:prstGeom>
          <a:noFill/>
          <a:ln/>
        </p:spPr>
        <p:txBody>
          <a:bodyPr wrap="square" lIns="0" tIns="0" rIns="0" bIns="0" rtlCol="0" anchor="ctr"/>
          <a:lstStyle/>
          <a:p>
            <a:pPr marL="0" indent="0">
              <a:buNone/>
            </a:pPr>
            <a:r>
              <a:rPr lang="en-US" sz="2000" b="1" kern="0" spc="100" dirty="0">
                <a:solidFill>
                  <a:srgbClr val="F2A93B"/>
                </a:solidFill>
                <a:latin typeface="Cambria" panose="02040503050406030204" pitchFamily="18" charset="0"/>
                <a:ea typeface="Cambria" panose="02040503050406030204" pitchFamily="18" charset="0"/>
                <a:cs typeface="Calibri" pitchFamily="34" charset="-120"/>
              </a:rPr>
              <a:t>PURPOSE</a:t>
            </a:r>
            <a:endParaRPr lang="en-US" sz="2000" dirty="0">
              <a:latin typeface="Cambria" panose="02040503050406030204" pitchFamily="18" charset="0"/>
              <a:ea typeface="Cambria" panose="02040503050406030204" pitchFamily="18" charset="0"/>
            </a:endParaRPr>
          </a:p>
        </p:txBody>
      </p:sp>
      <p:sp>
        <p:nvSpPr>
          <p:cNvPr id="11" name="Text 8"/>
          <p:cNvSpPr/>
          <p:nvPr/>
        </p:nvSpPr>
        <p:spPr>
          <a:xfrm>
            <a:off x="777240" y="3275700"/>
            <a:ext cx="4023360" cy="59436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Turn an uploaded PDF or image into a structured, exam-useful summary</a:t>
            </a:r>
            <a:endParaRPr lang="en-US" sz="2000" dirty="0"/>
          </a:p>
        </p:txBody>
      </p:sp>
      <p:sp>
        <p:nvSpPr>
          <p:cNvPr id="12" name="Text 9"/>
          <p:cNvSpPr/>
          <p:nvPr/>
        </p:nvSpPr>
        <p:spPr>
          <a:xfrm>
            <a:off x="777240" y="4066282"/>
            <a:ext cx="4023360" cy="256032"/>
          </a:xfrm>
          <a:prstGeom prst="rect">
            <a:avLst/>
          </a:prstGeom>
          <a:noFill/>
          <a:ln/>
        </p:spPr>
        <p:txBody>
          <a:bodyPr wrap="square" lIns="0" tIns="0" rIns="0" bIns="0" rtlCol="0" anchor="ctr"/>
          <a:lstStyle/>
          <a:p>
            <a:pPr marL="0" indent="0">
              <a:buNone/>
            </a:pPr>
            <a:r>
              <a:rPr lang="en-US" sz="2000" b="1" kern="0" spc="100" dirty="0">
                <a:solidFill>
                  <a:srgbClr val="F2A93B"/>
                </a:solidFill>
                <a:latin typeface="Cambria" panose="02040503050406030204" pitchFamily="18" charset="0"/>
                <a:ea typeface="Cambria" panose="02040503050406030204" pitchFamily="18" charset="0"/>
                <a:cs typeface="Calibri" pitchFamily="34" charset="-120"/>
              </a:rPr>
              <a:t>INPUTS</a:t>
            </a:r>
            <a:endParaRPr lang="en-US" sz="2000" dirty="0">
              <a:latin typeface="Cambria" panose="02040503050406030204" pitchFamily="18" charset="0"/>
              <a:ea typeface="Cambria" panose="02040503050406030204" pitchFamily="18" charset="0"/>
            </a:endParaRPr>
          </a:p>
        </p:txBody>
      </p:sp>
      <p:sp>
        <p:nvSpPr>
          <p:cNvPr id="13" name="Text 10"/>
          <p:cNvSpPr/>
          <p:nvPr/>
        </p:nvSpPr>
        <p:spPr>
          <a:xfrm>
            <a:off x="777240" y="4443243"/>
            <a:ext cx="4023360" cy="59436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The uploaded file (base64) + note title</a:t>
            </a:r>
            <a:endParaRPr lang="en-US" sz="2000" dirty="0"/>
          </a:p>
        </p:txBody>
      </p:sp>
      <p:sp>
        <p:nvSpPr>
          <p:cNvPr id="14" name="Text 11"/>
          <p:cNvSpPr/>
          <p:nvPr/>
        </p:nvSpPr>
        <p:spPr>
          <a:xfrm>
            <a:off x="777240" y="5081448"/>
            <a:ext cx="4023360" cy="256032"/>
          </a:xfrm>
          <a:prstGeom prst="rect">
            <a:avLst/>
          </a:prstGeom>
          <a:noFill/>
          <a:ln/>
        </p:spPr>
        <p:txBody>
          <a:bodyPr wrap="square" lIns="0" tIns="0" rIns="0" bIns="0" rtlCol="0" anchor="ctr"/>
          <a:lstStyle/>
          <a:p>
            <a:pPr marL="0" indent="0">
              <a:buNone/>
            </a:pPr>
            <a:r>
              <a:rPr lang="en-US" sz="2000" b="1" kern="0" spc="100" dirty="0">
                <a:solidFill>
                  <a:srgbClr val="F2A93B"/>
                </a:solidFill>
                <a:latin typeface="Cambria" panose="02040503050406030204" pitchFamily="18" charset="0"/>
                <a:ea typeface="Cambria" panose="02040503050406030204" pitchFamily="18" charset="0"/>
                <a:cs typeface="Calibri" pitchFamily="34" charset="-120"/>
              </a:rPr>
              <a:t>OUTPUTS</a:t>
            </a:r>
            <a:endParaRPr lang="en-US" sz="2000" dirty="0">
              <a:latin typeface="Cambria" panose="02040503050406030204" pitchFamily="18" charset="0"/>
              <a:ea typeface="Cambria" panose="02040503050406030204" pitchFamily="18" charset="0"/>
            </a:endParaRPr>
          </a:p>
        </p:txBody>
      </p:sp>
      <p:sp>
        <p:nvSpPr>
          <p:cNvPr id="15" name="Text 12"/>
          <p:cNvSpPr/>
          <p:nvPr/>
        </p:nvSpPr>
        <p:spPr>
          <a:xfrm>
            <a:off x="777240" y="5383200"/>
            <a:ext cx="4023360" cy="59436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Structured JSON: overview, key topics, formulas, worked example</a:t>
            </a:r>
            <a:endParaRPr lang="en-US" sz="2000" dirty="0"/>
          </a:p>
        </p:txBody>
      </p:sp>
      <p:sp>
        <p:nvSpPr>
          <p:cNvPr id="16" name="Shape 13"/>
          <p:cNvSpPr>
            <a:spLocks noGrp="1" noRot="1" noMove="1" noResize="1" noEditPoints="1" noAdjustHandles="1" noChangeArrowheads="1" noChangeShapeType="1"/>
          </p:cNvSpPr>
          <p:nvPr/>
        </p:nvSpPr>
        <p:spPr>
          <a:xfrm>
            <a:off x="5394960" y="1508760"/>
            <a:ext cx="6309360" cy="2240280"/>
          </a:xfrm>
          <a:prstGeom prst="roundRect">
            <a:avLst>
              <a:gd name="adj" fmla="val 3265"/>
            </a:avLst>
          </a:prstGeom>
          <a:solidFill>
            <a:srgbClr val="F7F9FC"/>
          </a:solidFill>
          <a:ln/>
          <a:effectLst>
            <a:outerShdw blurRad="101600" dist="38100" dir="5400000" algn="bl" rotWithShape="0">
              <a:srgbClr val="000000">
                <a:alpha val="12000"/>
              </a:srgbClr>
            </a:outerShdw>
          </a:effectLst>
        </p:spPr>
        <p:txBody>
          <a:bodyPr/>
          <a:lstStyle/>
          <a:p>
            <a:endParaRPr lang="en-US"/>
          </a:p>
        </p:txBody>
      </p:sp>
      <p:sp>
        <p:nvSpPr>
          <p:cNvPr id="17" name="Text 14"/>
          <p:cNvSpPr/>
          <p:nvPr/>
        </p:nvSpPr>
        <p:spPr>
          <a:xfrm>
            <a:off x="5715000" y="1691640"/>
            <a:ext cx="5669280" cy="32004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No OCR, No Native Modules</a:t>
            </a:r>
            <a:endParaRPr lang="en-US" sz="2000" dirty="0"/>
          </a:p>
        </p:txBody>
      </p:sp>
      <p:sp>
        <p:nvSpPr>
          <p:cNvPr id="18" name="Text 15"/>
          <p:cNvSpPr/>
          <p:nvPr/>
        </p:nvSpPr>
        <p:spPr>
          <a:xfrm>
            <a:off x="5715000" y="2057400"/>
            <a:ext cx="5669280" cy="1554480"/>
          </a:xfrm>
          <a:prstGeom prst="rect">
            <a:avLst/>
          </a:prstGeom>
          <a:noFill/>
          <a:ln/>
        </p:spPr>
        <p:txBody>
          <a:bodyPr wrap="square" lIns="0" tIns="0" rIns="0" bIns="0" rtlCol="0" anchor="t"/>
          <a:lstStyle/>
          <a:p>
            <a:pPr marL="0" indent="0">
              <a:buNone/>
            </a:pPr>
            <a:r>
              <a:rPr lang="en-US" sz="2000" dirty="0">
                <a:solidFill>
                  <a:srgbClr val="5B6B8C"/>
                </a:solidFill>
                <a:latin typeface="Calibri" pitchFamily="34" charset="0"/>
                <a:ea typeface="Calibri" pitchFamily="34" charset="-122"/>
                <a:cs typeface="Calibri" pitchFamily="34" charset="-120"/>
              </a:rPr>
              <a:t>The file is sent as base64 inline_data directly to Gemini, which reads PDFs and images natively in the same call that generates the summary — no separate OCR/extraction step, no native libraries incompatible with Expo Go.</a:t>
            </a:r>
            <a:endParaRPr lang="en-US" sz="2000" dirty="0"/>
          </a:p>
        </p:txBody>
      </p:sp>
      <p:sp>
        <p:nvSpPr>
          <p:cNvPr id="19" name="Shape 16"/>
          <p:cNvSpPr>
            <a:spLocks noGrp="1" noRot="1" noMove="1" noResize="1" noEditPoints="1" noAdjustHandles="1" noChangeArrowheads="1" noChangeShapeType="1"/>
          </p:cNvSpPr>
          <p:nvPr/>
        </p:nvSpPr>
        <p:spPr>
          <a:xfrm>
            <a:off x="5394960" y="3886200"/>
            <a:ext cx="6309360" cy="2148840"/>
          </a:xfrm>
          <a:prstGeom prst="roundRect">
            <a:avLst>
              <a:gd name="adj" fmla="val 3404"/>
            </a:avLst>
          </a:prstGeom>
          <a:solidFill>
            <a:srgbClr val="F7F9FC"/>
          </a:solidFill>
          <a:ln/>
          <a:effectLst>
            <a:outerShdw blurRad="101600" dist="38100" dir="5400000" algn="bl" rotWithShape="0">
              <a:srgbClr val="000000">
                <a:alpha val="12000"/>
              </a:srgbClr>
            </a:outerShdw>
          </a:effectLst>
        </p:spPr>
        <p:txBody>
          <a:bodyPr/>
          <a:lstStyle/>
          <a:p>
            <a:endParaRPr lang="en-US"/>
          </a:p>
        </p:txBody>
      </p:sp>
      <p:sp>
        <p:nvSpPr>
          <p:cNvPr id="20" name="Text 17"/>
          <p:cNvSpPr/>
          <p:nvPr/>
        </p:nvSpPr>
        <p:spPr>
          <a:xfrm>
            <a:off x="5715000" y="4050792"/>
            <a:ext cx="5669280" cy="320040"/>
          </a:xfrm>
          <a:prstGeom prst="rect">
            <a:avLst/>
          </a:prstGeom>
          <a:noFill/>
          <a:ln/>
        </p:spPr>
        <p:txBody>
          <a:bodyPr wrap="square" lIns="0" tIns="0" rIns="0" bIns="0" rtlCol="0" anchor="ctr"/>
          <a:lstStyle/>
          <a:p>
            <a:pPr marL="0" indent="0">
              <a:buNone/>
            </a:pPr>
            <a:r>
              <a:rPr lang="en-US" sz="2000" b="1" dirty="0">
                <a:solidFill>
                  <a:srgbClr val="17213B"/>
                </a:solidFill>
                <a:latin typeface="Cambria" pitchFamily="34" charset="0"/>
                <a:ea typeface="Cambria" pitchFamily="34" charset="-122"/>
                <a:cs typeface="Cambria" pitchFamily="34" charset="-120"/>
              </a:rPr>
              <a:t>Enforced JSON, Not Markdown</a:t>
            </a:r>
            <a:endParaRPr lang="en-US" sz="2000" dirty="0"/>
          </a:p>
        </p:txBody>
      </p:sp>
      <p:sp>
        <p:nvSpPr>
          <p:cNvPr id="21" name="Text 18"/>
          <p:cNvSpPr/>
          <p:nvPr/>
        </p:nvSpPr>
        <p:spPr>
          <a:xfrm>
            <a:off x="5715000" y="4389120"/>
            <a:ext cx="5669280" cy="1508760"/>
          </a:xfrm>
          <a:prstGeom prst="rect">
            <a:avLst/>
          </a:prstGeom>
          <a:noFill/>
          <a:ln/>
        </p:spPr>
        <p:txBody>
          <a:bodyPr wrap="square" lIns="0" tIns="0" rIns="0" bIns="0" rtlCol="0" anchor="t"/>
          <a:lstStyle/>
          <a:p>
            <a:pPr marL="0" indent="0">
              <a:buNone/>
            </a:pPr>
            <a:r>
              <a:rPr lang="en-US" sz="2000" dirty="0">
                <a:solidFill>
                  <a:srgbClr val="5B6B8C"/>
                </a:solidFill>
                <a:latin typeface="Calibri" pitchFamily="34" charset="0"/>
                <a:ea typeface="Calibri" pitchFamily="34" charset="-122"/>
                <a:cs typeface="Calibri" pitchFamily="34" charset="-120"/>
              </a:rPr>
              <a:t>A strict responseSchema forces Gemini to return real JSON (overview, keyTopics[], keyFormulas[], workedExample[]) instead of formatted text. Enforced by the API itself, so the UI renders it directly — no markdown parsing, nothing can render broken.</a:t>
            </a:r>
            <a:endParaRPr lang="en-US" sz="2000" dirty="0"/>
          </a:p>
        </p:txBody>
      </p:sp>
      <p:sp>
        <p:nvSpPr>
          <p:cNvPr id="22" name="Text 1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FB0CE"/>
                </a:solidFill>
                <a:latin typeface="Calibri" pitchFamily="34" charset="0"/>
                <a:ea typeface="Calibri" pitchFamily="34" charset="-122"/>
                <a:cs typeface="Calibri" pitchFamily="34" charset="-120"/>
              </a:rPr>
              <a:t>08</a:t>
            </a:r>
            <a:endParaRPr lang="en-US" sz="10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question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AI INTEGRATION · PART 2</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AI-Generated Revision Quizzes</a:t>
            </a:r>
            <a:endParaRPr lang="en-US" sz="3000" dirty="0"/>
          </a:p>
        </p:txBody>
      </p:sp>
      <p:sp>
        <p:nvSpPr>
          <p:cNvPr id="6" name="Shape 3"/>
          <p:cNvSpPr/>
          <p:nvPr/>
        </p:nvSpPr>
        <p:spPr>
          <a:xfrm>
            <a:off x="502920" y="1600200"/>
            <a:ext cx="3200400" cy="1188720"/>
          </a:xfrm>
          <a:prstGeom prst="roundRect">
            <a:avLst>
              <a:gd name="adj" fmla="val 6923"/>
            </a:avLst>
          </a:prstGeom>
          <a:solidFill>
            <a:srgbClr val="FFFFFF"/>
          </a:solidFill>
          <a:ln w="16510">
            <a:solidFill>
              <a:srgbClr val="0E7C86"/>
            </a:solidFill>
            <a:prstDash val="solid"/>
          </a:ln>
          <a:effectLst>
            <a:outerShdw blurRad="101600" dist="38100" dir="5400000" algn="bl" rotWithShape="0">
              <a:srgbClr val="000000">
                <a:alpha val="12000"/>
              </a:srgbClr>
            </a:outerShdw>
          </a:effectLst>
        </p:spPr>
        <p:txBody>
          <a:bodyPr/>
          <a:lstStyle/>
          <a:p>
            <a:endParaRPr lang="en-US" sz="2000"/>
          </a:p>
        </p:txBody>
      </p:sp>
      <p:sp>
        <p:nvSpPr>
          <p:cNvPr id="7" name="Text 4"/>
          <p:cNvSpPr/>
          <p:nvPr/>
        </p:nvSpPr>
        <p:spPr>
          <a:xfrm>
            <a:off x="502920" y="1600200"/>
            <a:ext cx="3200400" cy="1188720"/>
          </a:xfrm>
          <a:prstGeom prst="rect">
            <a:avLst/>
          </a:prstGeom>
          <a:noFill/>
          <a:ln/>
        </p:spPr>
        <p:txBody>
          <a:bodyPr wrap="square" lIns="76200" tIns="76200" rIns="76200" bIns="76200" rtlCol="0" anchor="ctr"/>
          <a:lstStyle/>
          <a:p>
            <a:pPr marL="0" indent="0" algn="ctr">
              <a:buNone/>
            </a:pPr>
            <a:r>
              <a:rPr lang="en-US" sz="2000" b="1" dirty="0">
                <a:solidFill>
                  <a:srgbClr val="17213B"/>
                </a:solidFill>
                <a:latin typeface="Cambria" panose="02040503050406030204" pitchFamily="18" charset="0"/>
                <a:ea typeface="Cambria" panose="02040503050406030204" pitchFamily="18" charset="0"/>
                <a:cs typeface="Calibri" pitchFamily="34" charset="-120"/>
              </a:rPr>
              <a:t>Existing Note Summary</a:t>
            </a:r>
            <a:endParaRPr lang="en-US" sz="2000" dirty="0">
              <a:latin typeface="Cambria" panose="02040503050406030204" pitchFamily="18" charset="0"/>
              <a:ea typeface="Cambria" panose="02040503050406030204" pitchFamily="18" charset="0"/>
            </a:endParaRPr>
          </a:p>
          <a:p>
            <a:pPr marL="0" indent="0" algn="ctr">
              <a:buNone/>
            </a:pPr>
            <a:r>
              <a:rPr lang="en-US" sz="2000" b="1" dirty="0">
                <a:solidFill>
                  <a:srgbClr val="17213B"/>
                </a:solidFill>
                <a:latin typeface="Cambria" panose="02040503050406030204" pitchFamily="18" charset="0"/>
                <a:ea typeface="Cambria" panose="02040503050406030204" pitchFamily="18" charset="0"/>
                <a:cs typeface="Calibri" pitchFamily="34" charset="-120"/>
              </a:rPr>
              <a:t>(already generated)</a:t>
            </a:r>
            <a:endParaRPr lang="en-US" sz="2000" dirty="0">
              <a:latin typeface="Cambria" panose="02040503050406030204" pitchFamily="18" charset="0"/>
              <a:ea typeface="Cambria" panose="02040503050406030204" pitchFamily="18" charset="0"/>
            </a:endParaRPr>
          </a:p>
        </p:txBody>
      </p:sp>
      <p:sp>
        <p:nvSpPr>
          <p:cNvPr id="8" name="Shape 5"/>
          <p:cNvSpPr/>
          <p:nvPr/>
        </p:nvSpPr>
        <p:spPr>
          <a:xfrm>
            <a:off x="3730752" y="2075688"/>
            <a:ext cx="274320" cy="237744"/>
          </a:xfrm>
          <a:prstGeom prst="rightArrow">
            <a:avLst/>
          </a:prstGeom>
          <a:solidFill>
            <a:srgbClr val="F2A93B"/>
          </a:solidFill>
          <a:ln/>
        </p:spPr>
        <p:txBody>
          <a:bodyPr/>
          <a:lstStyle/>
          <a:p>
            <a:endParaRPr lang="en-US"/>
          </a:p>
        </p:txBody>
      </p:sp>
      <p:sp>
        <p:nvSpPr>
          <p:cNvPr id="9" name="Shape 6"/>
          <p:cNvSpPr/>
          <p:nvPr/>
        </p:nvSpPr>
        <p:spPr>
          <a:xfrm>
            <a:off x="4160520" y="1600200"/>
            <a:ext cx="3566160" cy="1188720"/>
          </a:xfrm>
          <a:prstGeom prst="roundRect">
            <a:avLst>
              <a:gd name="adj" fmla="val 6923"/>
            </a:avLst>
          </a:prstGeom>
          <a:solidFill>
            <a:srgbClr val="15233B"/>
          </a:solidFill>
          <a:ln/>
          <a:effectLst>
            <a:outerShdw blurRad="101600" dist="38100" dir="5400000" algn="bl" rotWithShape="0">
              <a:srgbClr val="000000">
                <a:alpha val="12000"/>
              </a:srgbClr>
            </a:outerShdw>
          </a:effectLst>
        </p:spPr>
        <p:txBody>
          <a:bodyPr/>
          <a:lstStyle/>
          <a:p>
            <a:endParaRPr lang="en-US" sz="2000"/>
          </a:p>
        </p:txBody>
      </p:sp>
      <p:sp>
        <p:nvSpPr>
          <p:cNvPr id="10" name="Text 7"/>
          <p:cNvSpPr/>
          <p:nvPr/>
        </p:nvSpPr>
        <p:spPr>
          <a:xfrm>
            <a:off x="4160520" y="1600200"/>
            <a:ext cx="3566160" cy="1188720"/>
          </a:xfrm>
          <a:prstGeom prst="rect">
            <a:avLst/>
          </a:prstGeom>
          <a:noFill/>
          <a:ln/>
        </p:spPr>
        <p:txBody>
          <a:bodyPr wrap="square" lIns="76200" tIns="76200" rIns="76200" bIns="7620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Gemini 2.5 Flash</a:t>
            </a:r>
            <a:endParaRPr lang="en-US" sz="2000" dirty="0">
              <a:latin typeface="Cambria" panose="02040503050406030204" pitchFamily="18" charset="0"/>
              <a:ea typeface="Cambria" panose="02040503050406030204" pitchFamily="18" charset="0"/>
            </a:endParaRPr>
          </a:p>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(text-only call)</a:t>
            </a:r>
            <a:endParaRPr lang="en-US" sz="2000" dirty="0">
              <a:latin typeface="Cambria" panose="02040503050406030204" pitchFamily="18" charset="0"/>
              <a:ea typeface="Cambria" panose="02040503050406030204" pitchFamily="18" charset="0"/>
            </a:endParaRPr>
          </a:p>
        </p:txBody>
      </p:sp>
      <p:sp>
        <p:nvSpPr>
          <p:cNvPr id="11" name="Shape 8"/>
          <p:cNvSpPr/>
          <p:nvPr/>
        </p:nvSpPr>
        <p:spPr>
          <a:xfrm>
            <a:off x="7754112" y="2075688"/>
            <a:ext cx="274320" cy="237744"/>
          </a:xfrm>
          <a:prstGeom prst="rightArrow">
            <a:avLst/>
          </a:prstGeom>
          <a:solidFill>
            <a:srgbClr val="F2A93B"/>
          </a:solidFill>
          <a:ln/>
        </p:spPr>
        <p:txBody>
          <a:bodyPr/>
          <a:lstStyle/>
          <a:p>
            <a:endParaRPr lang="en-US"/>
          </a:p>
        </p:txBody>
      </p:sp>
      <p:sp>
        <p:nvSpPr>
          <p:cNvPr id="12" name="Shape 9"/>
          <p:cNvSpPr/>
          <p:nvPr/>
        </p:nvSpPr>
        <p:spPr>
          <a:xfrm>
            <a:off x="8183880" y="1600200"/>
            <a:ext cx="3520440" cy="1188720"/>
          </a:xfrm>
          <a:prstGeom prst="roundRect">
            <a:avLst>
              <a:gd name="adj" fmla="val 6923"/>
            </a:avLst>
          </a:prstGeom>
          <a:solidFill>
            <a:srgbClr val="FFFFFF"/>
          </a:solidFill>
          <a:ln w="16510">
            <a:solidFill>
              <a:srgbClr val="0E7C86"/>
            </a:solidFill>
            <a:prstDash val="solid"/>
          </a:ln>
          <a:effectLst>
            <a:outerShdw blurRad="101600" dist="38100" dir="5400000" algn="bl" rotWithShape="0">
              <a:srgbClr val="000000">
                <a:alpha val="12000"/>
              </a:srgbClr>
            </a:outerShdw>
          </a:effectLst>
        </p:spPr>
        <p:txBody>
          <a:bodyPr/>
          <a:lstStyle/>
          <a:p>
            <a:endParaRPr lang="en-US"/>
          </a:p>
        </p:txBody>
      </p:sp>
      <p:sp>
        <p:nvSpPr>
          <p:cNvPr id="13" name="Text 10"/>
          <p:cNvSpPr/>
          <p:nvPr/>
        </p:nvSpPr>
        <p:spPr>
          <a:xfrm>
            <a:off x="8183880" y="1600200"/>
            <a:ext cx="3520440" cy="1188720"/>
          </a:xfrm>
          <a:prstGeom prst="rect">
            <a:avLst/>
          </a:prstGeom>
          <a:noFill/>
          <a:ln/>
        </p:spPr>
        <p:txBody>
          <a:bodyPr wrap="square" lIns="76200" tIns="76200" rIns="76200" bIns="76200" rtlCol="0" anchor="ctr"/>
          <a:lstStyle/>
          <a:p>
            <a:pPr marL="0" indent="0" algn="ctr">
              <a:buNone/>
            </a:pPr>
            <a:r>
              <a:rPr lang="en-US" sz="2000" b="1" dirty="0">
                <a:solidFill>
                  <a:srgbClr val="17213B"/>
                </a:solidFill>
                <a:latin typeface="Cambria" panose="02040503050406030204" pitchFamily="18" charset="0"/>
                <a:ea typeface="Cambria" panose="02040503050406030204" pitchFamily="18" charset="0"/>
                <a:cs typeface="Calibri" pitchFamily="34" charset="-120"/>
              </a:rPr>
              <a:t>10-15 Revision</a:t>
            </a:r>
            <a:endParaRPr lang="en-US" sz="2000" dirty="0">
              <a:latin typeface="Cambria" panose="02040503050406030204" pitchFamily="18" charset="0"/>
              <a:ea typeface="Cambria" panose="02040503050406030204" pitchFamily="18" charset="0"/>
            </a:endParaRPr>
          </a:p>
          <a:p>
            <a:pPr marL="0" indent="0" algn="ctr">
              <a:buNone/>
            </a:pPr>
            <a:r>
              <a:rPr lang="en-US" sz="2000" b="1" dirty="0">
                <a:solidFill>
                  <a:srgbClr val="17213B"/>
                </a:solidFill>
                <a:latin typeface="Cambria" panose="02040503050406030204" pitchFamily="18" charset="0"/>
                <a:ea typeface="Cambria" panose="02040503050406030204" pitchFamily="18" charset="0"/>
                <a:cs typeface="Calibri" pitchFamily="34" charset="-120"/>
              </a:rPr>
              <a:t>Questions (JSON array)</a:t>
            </a:r>
            <a:endParaRPr lang="en-US" sz="2000" dirty="0">
              <a:latin typeface="Cambria" panose="02040503050406030204" pitchFamily="18" charset="0"/>
              <a:ea typeface="Cambria" panose="02040503050406030204" pitchFamily="18" charset="0"/>
            </a:endParaRPr>
          </a:p>
        </p:txBody>
      </p:sp>
      <p:sp>
        <p:nvSpPr>
          <p:cNvPr id="14" name="Shape 11"/>
          <p:cNvSpPr/>
          <p:nvPr/>
        </p:nvSpPr>
        <p:spPr>
          <a:xfrm>
            <a:off x="502920" y="3108960"/>
            <a:ext cx="11201400" cy="2651760"/>
          </a:xfrm>
          <a:prstGeom prst="roundRect">
            <a:avLst>
              <a:gd name="adj" fmla="val 275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5" name="Text 12"/>
          <p:cNvSpPr/>
          <p:nvPr/>
        </p:nvSpPr>
        <p:spPr>
          <a:xfrm>
            <a:off x="868680" y="3364992"/>
            <a:ext cx="10515600" cy="2194560"/>
          </a:xfrm>
          <a:prstGeom prst="rect">
            <a:avLst/>
          </a:prstGeom>
          <a:noFill/>
          <a:ln/>
        </p:spPr>
        <p:txBody>
          <a:bodyPr wrap="square" rtlCol="0" anchor="ctr"/>
          <a:lstStyle/>
          <a:p>
            <a:pPr marL="342900" indent="-342900">
              <a:spcAft>
                <a:spcPts val="14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Reuses the summary already produced — never re-reads or re-uploads the original file</a:t>
            </a:r>
            <a:endParaRPr lang="en-US" sz="2000" dirty="0">
              <a:latin typeface="Cambria" panose="02040503050406030204" pitchFamily="18" charset="0"/>
              <a:ea typeface="Cambria" panose="02040503050406030204" pitchFamily="18" charset="0"/>
            </a:endParaRPr>
          </a:p>
          <a:p>
            <a:pPr marL="342900" indent="-342900">
              <a:spcAft>
                <a:spcPts val="14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Cheaper and faster: one small text-only call instead of a full document call</a:t>
            </a:r>
            <a:endParaRPr lang="en-US" sz="2000" dirty="0">
              <a:latin typeface="Cambria" panose="02040503050406030204" pitchFamily="18" charset="0"/>
              <a:ea typeface="Cambria" panose="02040503050406030204" pitchFamily="18" charset="0"/>
            </a:endParaRPr>
          </a:p>
          <a:p>
            <a:pPr marL="342900" indent="-342900">
              <a:spcAft>
                <a:spcPts val="14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Automatically includes numeric/calculation questions when the summary has formulas or worked examples</a:t>
            </a:r>
            <a:endParaRPr lang="en-US" sz="2000" dirty="0">
              <a:latin typeface="Cambria" panose="02040503050406030204" pitchFamily="18" charset="0"/>
              <a:ea typeface="Cambria" panose="02040503050406030204" pitchFamily="18" charset="0"/>
            </a:endParaRPr>
          </a:p>
          <a:p>
            <a:pPr marL="342900" indent="-342900">
              <a:spcAft>
                <a:spcPts val="1400"/>
              </a:spcAft>
              <a:buSzPct val="100000"/>
              <a:buChar char="•"/>
            </a:pPr>
            <a:r>
              <a:rPr lang="en-US" sz="2000" dirty="0">
                <a:solidFill>
                  <a:srgbClr val="17213B"/>
                </a:solidFill>
                <a:latin typeface="Cambria" panose="02040503050406030204" pitchFamily="18" charset="0"/>
                <a:ea typeface="Cambria" panose="02040503050406030204" pitchFamily="18" charset="0"/>
                <a:cs typeface="Calibri" pitchFamily="34" charset="-120"/>
              </a:rPr>
              <a:t>Same architectural pattern as summarization (schema-enforced JSON output) — a designed system, not two disconnected features</a:t>
            </a:r>
            <a:endParaRPr lang="en-US" sz="2000" dirty="0">
              <a:latin typeface="Cambria" panose="02040503050406030204" pitchFamily="18" charset="0"/>
              <a:ea typeface="Cambria" panose="02040503050406030204" pitchFamily="18" charset="0"/>
            </a:endParaRPr>
          </a:p>
        </p:txBody>
      </p:sp>
      <p:sp>
        <p:nvSpPr>
          <p:cNvPr id="16" name="Text 1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09</a:t>
            </a:r>
            <a:endParaRPr lang="en-US" sz="10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tools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POLISH &amp; NON-FUNCTIONAL REQUIREMENTS</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Additional Features</a:t>
            </a:r>
            <a:endParaRPr lang="en-US" sz="3000" dirty="0"/>
          </a:p>
        </p:txBody>
      </p:sp>
      <p:sp>
        <p:nvSpPr>
          <p:cNvPr id="6" name="Shape 3"/>
          <p:cNvSpPr>
            <a:spLocks noGrp="1" noRot="1" noMove="1" noResize="1" noEditPoints="1" noAdjustHandles="1" noChangeArrowheads="1" noChangeShapeType="1"/>
          </p:cNvSpPr>
          <p:nvPr/>
        </p:nvSpPr>
        <p:spPr>
          <a:xfrm>
            <a:off x="502920" y="1463040"/>
            <a:ext cx="3611880" cy="2148840"/>
          </a:xfrm>
          <a:prstGeom prst="roundRect">
            <a:avLst>
              <a:gd name="adj" fmla="val 3404"/>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7" name="Shape 4"/>
          <p:cNvSpPr/>
          <p:nvPr/>
        </p:nvSpPr>
        <p:spPr>
          <a:xfrm>
            <a:off x="1997590" y="1581446"/>
            <a:ext cx="723216" cy="723216"/>
          </a:xfrm>
          <a:prstGeom prst="ellipse">
            <a:avLst/>
          </a:prstGeom>
          <a:solidFill>
            <a:srgbClr val="E8EDF5"/>
          </a:solidFill>
          <a:ln w="19050">
            <a:solidFill>
              <a:srgbClr val="0E7C86"/>
            </a:solidFill>
          </a:ln>
        </p:spPr>
        <p:txBody>
          <a:bodyPr/>
          <a:lstStyle/>
          <a:p>
            <a:endParaRPr lang="en-US"/>
          </a:p>
        </p:txBody>
      </p:sp>
      <p:sp>
        <p:nvSpPr>
          <p:cNvPr id="9" name="Text 5"/>
          <p:cNvSpPr/>
          <p:nvPr/>
        </p:nvSpPr>
        <p:spPr>
          <a:xfrm>
            <a:off x="685800" y="2377440"/>
            <a:ext cx="3246120" cy="365760"/>
          </a:xfrm>
          <a:prstGeom prst="rect">
            <a:avLst/>
          </a:prstGeom>
          <a:noFill/>
          <a:ln/>
        </p:spPr>
        <p:txBody>
          <a:bodyPr wrap="square" lIns="0" tIns="0" rIns="0" bIns="0" rtlCol="0" anchor="ctr"/>
          <a:lstStyle/>
          <a:p>
            <a:pPr marL="0" indent="0" algn="ctr">
              <a:buNone/>
            </a:pPr>
            <a:r>
              <a:rPr lang="en-US" sz="2000" b="1" dirty="0">
                <a:solidFill>
                  <a:srgbClr val="17213B"/>
                </a:solidFill>
                <a:latin typeface="Cambria" pitchFamily="34" charset="0"/>
                <a:ea typeface="Cambria" pitchFamily="34" charset="-122"/>
                <a:cs typeface="Cambria" pitchFamily="34" charset="-120"/>
              </a:rPr>
              <a:t>Search files &amp; folders</a:t>
            </a:r>
            <a:endParaRPr lang="en-US" sz="2000" dirty="0"/>
          </a:p>
        </p:txBody>
      </p:sp>
      <p:sp>
        <p:nvSpPr>
          <p:cNvPr id="10" name="Text 6"/>
          <p:cNvSpPr/>
          <p:nvPr/>
        </p:nvSpPr>
        <p:spPr>
          <a:xfrm>
            <a:off x="731520" y="2743200"/>
            <a:ext cx="3154680" cy="777240"/>
          </a:xfrm>
          <a:prstGeom prst="rect">
            <a:avLst/>
          </a:prstGeom>
          <a:noFill/>
          <a:ln/>
        </p:spPr>
        <p:txBody>
          <a:bodyPr wrap="square" lIns="0" tIns="0" rIns="0" bIns="0" rtlCol="0" anchor="t"/>
          <a:lstStyle/>
          <a:p>
            <a:pPr marL="0" indent="0" algn="ctr">
              <a:buNone/>
            </a:pPr>
            <a:r>
              <a:rPr lang="en-US" sz="1600" dirty="0">
                <a:solidFill>
                  <a:srgbClr val="5B6B8C"/>
                </a:solidFill>
                <a:latin typeface="Cambria" panose="02040503050406030204" pitchFamily="18" charset="0"/>
                <a:ea typeface="Cambria" panose="02040503050406030204" pitchFamily="18" charset="0"/>
                <a:cs typeface="Calibri" pitchFamily="34" charset="-120"/>
              </a:rPr>
              <a:t>Search functionality to find files and folders by name</a:t>
            </a:r>
            <a:endParaRPr lang="en-US" sz="1600" dirty="0">
              <a:latin typeface="Cambria" panose="02040503050406030204" pitchFamily="18" charset="0"/>
              <a:ea typeface="Cambria" panose="02040503050406030204" pitchFamily="18" charset="0"/>
            </a:endParaRPr>
          </a:p>
        </p:txBody>
      </p:sp>
      <p:grpSp>
        <p:nvGrpSpPr>
          <p:cNvPr id="45" name="Group 44">
            <a:extLst>
              <a:ext uri="{FF2B5EF4-FFF2-40B4-BE49-F238E27FC236}">
                <a16:creationId xmlns:a16="http://schemas.microsoft.com/office/drawing/2014/main" id="{3B4ADF3C-1045-AFA3-CBE5-4C2BED403B18}"/>
              </a:ext>
            </a:extLst>
          </p:cNvPr>
          <p:cNvGrpSpPr/>
          <p:nvPr/>
        </p:nvGrpSpPr>
        <p:grpSpPr>
          <a:xfrm>
            <a:off x="2384951" y="3799916"/>
            <a:ext cx="3611880" cy="2148840"/>
            <a:chOff x="4297680" y="1463040"/>
            <a:chExt cx="3611880" cy="2148840"/>
          </a:xfrm>
        </p:grpSpPr>
        <p:sp>
          <p:nvSpPr>
            <p:cNvPr id="11" name="Shape 7"/>
            <p:cNvSpPr>
              <a:spLocks/>
            </p:cNvSpPr>
            <p:nvPr/>
          </p:nvSpPr>
          <p:spPr>
            <a:xfrm>
              <a:off x="4297680" y="1463040"/>
              <a:ext cx="3611880" cy="2148840"/>
            </a:xfrm>
            <a:prstGeom prst="roundRect">
              <a:avLst>
                <a:gd name="adj" fmla="val 3404"/>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41" name="Group 40">
              <a:extLst>
                <a:ext uri="{FF2B5EF4-FFF2-40B4-BE49-F238E27FC236}">
                  <a16:creationId xmlns:a16="http://schemas.microsoft.com/office/drawing/2014/main" id="{AA3B146A-1EC2-CC92-CDB2-C98CC3EA9B2C}"/>
                </a:ext>
              </a:extLst>
            </p:cNvPr>
            <p:cNvGrpSpPr/>
            <p:nvPr/>
          </p:nvGrpSpPr>
          <p:grpSpPr>
            <a:xfrm>
              <a:off x="5792350" y="1581446"/>
              <a:ext cx="723216" cy="723216"/>
              <a:chOff x="5811012" y="1691640"/>
              <a:chExt cx="585216" cy="585216"/>
            </a:xfrm>
          </p:grpSpPr>
          <p:sp>
            <p:nvSpPr>
              <p:cNvPr id="12" name="Shape 8"/>
              <p:cNvSpPr/>
              <p:nvPr/>
            </p:nvSpPr>
            <p:spPr>
              <a:xfrm>
                <a:off x="5811012" y="1691640"/>
                <a:ext cx="585216" cy="585216"/>
              </a:xfrm>
              <a:prstGeom prst="ellipse">
                <a:avLst/>
              </a:prstGeom>
              <a:solidFill>
                <a:srgbClr val="E8EDF5"/>
              </a:solidFill>
              <a:ln w="19050">
                <a:solidFill>
                  <a:schemeClr val="tx1"/>
                </a:solidFill>
              </a:ln>
            </p:spPr>
            <p:txBody>
              <a:bodyPr/>
              <a:lstStyle/>
              <a:p>
                <a:endParaRPr lang="en-US"/>
              </a:p>
            </p:txBody>
          </p:sp>
          <p:pic>
            <p:nvPicPr>
              <p:cNvPr id="13" name="Image 2" descr="icons/user_navy.png"/>
              <p:cNvPicPr>
                <a:picLocks noChangeAspect="1"/>
              </p:cNvPicPr>
              <p:nvPr/>
            </p:nvPicPr>
            <p:blipFill>
              <a:blip r:embed="rId4"/>
              <a:stretch>
                <a:fillRect/>
              </a:stretch>
            </p:blipFill>
            <p:spPr>
              <a:xfrm>
                <a:off x="5963168" y="1843796"/>
                <a:ext cx="280904" cy="280904"/>
              </a:xfrm>
              <a:prstGeom prst="rect">
                <a:avLst/>
              </a:prstGeom>
            </p:spPr>
          </p:pic>
        </p:grpSp>
        <p:sp>
          <p:nvSpPr>
            <p:cNvPr id="14" name="Text 9"/>
            <p:cNvSpPr/>
            <p:nvPr/>
          </p:nvSpPr>
          <p:spPr>
            <a:xfrm>
              <a:off x="4480560" y="2377440"/>
              <a:ext cx="3246120" cy="365760"/>
            </a:xfrm>
            <a:prstGeom prst="rect">
              <a:avLst/>
            </a:prstGeom>
            <a:noFill/>
            <a:ln/>
          </p:spPr>
          <p:txBody>
            <a:bodyPr wrap="square" lIns="0" tIns="0" rIns="0" bIns="0" rtlCol="0" anchor="ctr"/>
            <a:lstStyle/>
            <a:p>
              <a:pPr marL="0" indent="0" algn="ctr">
                <a:buNone/>
              </a:pPr>
              <a:r>
                <a:rPr lang="en-US" sz="2000" b="1" dirty="0">
                  <a:solidFill>
                    <a:srgbClr val="17213B"/>
                  </a:solidFill>
                  <a:latin typeface="Cambria" pitchFamily="34" charset="0"/>
                  <a:ea typeface="Cambria" pitchFamily="34" charset="-122"/>
                  <a:cs typeface="Cambria" pitchFamily="34" charset="-120"/>
                </a:rPr>
                <a:t>Profile Management</a:t>
              </a:r>
              <a:endParaRPr lang="en-US" sz="2000" dirty="0"/>
            </a:p>
          </p:txBody>
        </p:sp>
        <p:sp>
          <p:nvSpPr>
            <p:cNvPr id="15" name="Text 10"/>
            <p:cNvSpPr/>
            <p:nvPr/>
          </p:nvSpPr>
          <p:spPr>
            <a:xfrm>
              <a:off x="4526280" y="2743200"/>
              <a:ext cx="3154680" cy="777240"/>
            </a:xfrm>
            <a:prstGeom prst="rect">
              <a:avLst/>
            </a:prstGeom>
            <a:noFill/>
            <a:ln/>
          </p:spPr>
          <p:txBody>
            <a:bodyPr wrap="square" lIns="0" tIns="0" rIns="0" bIns="0" rtlCol="0" anchor="t"/>
            <a:lstStyle/>
            <a:p>
              <a:pPr marL="0" indent="0" algn="ctr">
                <a:buNone/>
              </a:pPr>
              <a:r>
                <a:rPr lang="en-US" sz="1600" dirty="0">
                  <a:solidFill>
                    <a:srgbClr val="5B6B8C"/>
                  </a:solidFill>
                  <a:latin typeface="Cambria" panose="02040503050406030204" pitchFamily="18" charset="0"/>
                  <a:ea typeface="Cambria" panose="02040503050406030204" pitchFamily="18" charset="0"/>
                  <a:cs typeface="Calibri" pitchFamily="34" charset="-120"/>
                </a:rPr>
                <a:t>Editable profile, picture upload with cropping, secure account deletion (re-auth required)</a:t>
              </a:r>
              <a:endParaRPr lang="en-US" sz="1600" dirty="0">
                <a:latin typeface="Cambria" panose="02040503050406030204" pitchFamily="18" charset="0"/>
                <a:ea typeface="Cambria" panose="02040503050406030204" pitchFamily="18" charset="0"/>
              </a:endParaRPr>
            </a:p>
          </p:txBody>
        </p:sp>
      </p:grpSp>
      <p:sp>
        <p:nvSpPr>
          <p:cNvPr id="16" name="Shape 11"/>
          <p:cNvSpPr>
            <a:spLocks noGrp="1" noRot="1" noMove="1" noResize="1" noEditPoints="1" noAdjustHandles="1" noChangeArrowheads="1" noChangeShapeType="1"/>
          </p:cNvSpPr>
          <p:nvPr/>
        </p:nvSpPr>
        <p:spPr>
          <a:xfrm>
            <a:off x="8092440" y="1463040"/>
            <a:ext cx="3611880" cy="2148840"/>
          </a:xfrm>
          <a:prstGeom prst="roundRect">
            <a:avLst>
              <a:gd name="adj" fmla="val 3404"/>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42" name="Group 41">
            <a:extLst>
              <a:ext uri="{FF2B5EF4-FFF2-40B4-BE49-F238E27FC236}">
                <a16:creationId xmlns:a16="http://schemas.microsoft.com/office/drawing/2014/main" id="{152D171B-C849-7CBE-E04A-FF92B20B2884}"/>
              </a:ext>
            </a:extLst>
          </p:cNvPr>
          <p:cNvGrpSpPr/>
          <p:nvPr/>
        </p:nvGrpSpPr>
        <p:grpSpPr>
          <a:xfrm>
            <a:off x="9587110" y="1581446"/>
            <a:ext cx="723216" cy="723216"/>
            <a:chOff x="9605772" y="1691640"/>
            <a:chExt cx="585216" cy="585216"/>
          </a:xfrm>
        </p:grpSpPr>
        <p:sp>
          <p:nvSpPr>
            <p:cNvPr id="17" name="Shape 12"/>
            <p:cNvSpPr/>
            <p:nvPr/>
          </p:nvSpPr>
          <p:spPr>
            <a:xfrm>
              <a:off x="9605772" y="1691640"/>
              <a:ext cx="585216" cy="585216"/>
            </a:xfrm>
            <a:prstGeom prst="ellipse">
              <a:avLst/>
            </a:prstGeom>
            <a:solidFill>
              <a:srgbClr val="E8EDF5"/>
            </a:solidFill>
            <a:ln w="19050">
              <a:solidFill>
                <a:srgbClr val="0E7C86"/>
              </a:solidFill>
            </a:ln>
          </p:spPr>
          <p:txBody>
            <a:bodyPr/>
            <a:lstStyle/>
            <a:p>
              <a:endParaRPr lang="en-US"/>
            </a:p>
          </p:txBody>
        </p:sp>
        <p:pic>
          <p:nvPicPr>
            <p:cNvPr id="18" name="Image 3" descr="icons/share_teal.png"/>
            <p:cNvPicPr>
              <a:picLocks noChangeAspect="1"/>
            </p:cNvPicPr>
            <p:nvPr/>
          </p:nvPicPr>
          <p:blipFill>
            <a:blip r:embed="rId5"/>
            <a:stretch>
              <a:fillRect/>
            </a:stretch>
          </p:blipFill>
          <p:spPr>
            <a:xfrm>
              <a:off x="9757928" y="1843796"/>
              <a:ext cx="280904" cy="280904"/>
            </a:xfrm>
            <a:prstGeom prst="rect">
              <a:avLst/>
            </a:prstGeom>
          </p:spPr>
        </p:pic>
      </p:grpSp>
      <p:sp>
        <p:nvSpPr>
          <p:cNvPr id="19" name="Text 13"/>
          <p:cNvSpPr/>
          <p:nvPr/>
        </p:nvSpPr>
        <p:spPr>
          <a:xfrm>
            <a:off x="8275320" y="2377440"/>
            <a:ext cx="3246120" cy="365760"/>
          </a:xfrm>
          <a:prstGeom prst="rect">
            <a:avLst/>
          </a:prstGeom>
          <a:noFill/>
          <a:ln/>
        </p:spPr>
        <p:txBody>
          <a:bodyPr wrap="square" lIns="0" tIns="0" rIns="0" bIns="0" rtlCol="0" anchor="ctr"/>
          <a:lstStyle/>
          <a:p>
            <a:pPr marL="0" indent="0" algn="ctr">
              <a:buNone/>
            </a:pPr>
            <a:r>
              <a:rPr lang="en-US" sz="2000" b="1" dirty="0">
                <a:solidFill>
                  <a:srgbClr val="17213B"/>
                </a:solidFill>
                <a:latin typeface="Cambria" pitchFamily="34" charset="0"/>
                <a:ea typeface="Cambria" pitchFamily="34" charset="-122"/>
                <a:cs typeface="Cambria" pitchFamily="34" charset="-120"/>
              </a:rPr>
              <a:t>Share &amp; Download</a:t>
            </a:r>
            <a:endParaRPr lang="en-US" sz="2000" dirty="0"/>
          </a:p>
        </p:txBody>
      </p:sp>
      <p:sp>
        <p:nvSpPr>
          <p:cNvPr id="20" name="Text 14"/>
          <p:cNvSpPr/>
          <p:nvPr/>
        </p:nvSpPr>
        <p:spPr>
          <a:xfrm>
            <a:off x="8321040" y="2743200"/>
            <a:ext cx="3154680" cy="777240"/>
          </a:xfrm>
          <a:prstGeom prst="rect">
            <a:avLst/>
          </a:prstGeom>
          <a:noFill/>
          <a:ln/>
        </p:spPr>
        <p:txBody>
          <a:bodyPr wrap="square" lIns="0" tIns="0" rIns="0" bIns="0" rtlCol="0" anchor="t"/>
          <a:lstStyle/>
          <a:p>
            <a:pPr marL="0" indent="0" algn="ctr">
              <a:buNone/>
            </a:pPr>
            <a:r>
              <a:rPr lang="en-US" sz="1600" dirty="0">
                <a:solidFill>
                  <a:srgbClr val="5B6B8C"/>
                </a:solidFill>
                <a:latin typeface="Cambria" panose="02040503050406030204" pitchFamily="18" charset="0"/>
                <a:ea typeface="Cambria" panose="02040503050406030204" pitchFamily="18" charset="0"/>
                <a:cs typeface="Calibri" pitchFamily="34" charset="-120"/>
              </a:rPr>
              <a:t>Export summaries via native share sheet or save-to-device (expo-sharing)</a:t>
            </a:r>
            <a:endParaRPr lang="en-US" sz="1600" dirty="0">
              <a:latin typeface="Cambria" panose="02040503050406030204" pitchFamily="18" charset="0"/>
              <a:ea typeface="Cambria" panose="02040503050406030204" pitchFamily="18" charset="0"/>
            </a:endParaRPr>
          </a:p>
        </p:txBody>
      </p:sp>
      <p:grpSp>
        <p:nvGrpSpPr>
          <p:cNvPr id="46" name="Group 45">
            <a:extLst>
              <a:ext uri="{FF2B5EF4-FFF2-40B4-BE49-F238E27FC236}">
                <a16:creationId xmlns:a16="http://schemas.microsoft.com/office/drawing/2014/main" id="{B3DDAD98-6998-315B-13CD-992C09C55BE5}"/>
              </a:ext>
            </a:extLst>
          </p:cNvPr>
          <p:cNvGrpSpPr/>
          <p:nvPr/>
        </p:nvGrpSpPr>
        <p:grpSpPr>
          <a:xfrm>
            <a:off x="4297680" y="1463040"/>
            <a:ext cx="3611880" cy="2148840"/>
            <a:chOff x="4297680" y="3886200"/>
            <a:chExt cx="3611880" cy="2148840"/>
          </a:xfrm>
        </p:grpSpPr>
        <p:sp>
          <p:nvSpPr>
            <p:cNvPr id="26" name="Shape 19"/>
            <p:cNvSpPr>
              <a:spLocks/>
            </p:cNvSpPr>
            <p:nvPr/>
          </p:nvSpPr>
          <p:spPr>
            <a:xfrm>
              <a:off x="4297680" y="3886200"/>
              <a:ext cx="3611880" cy="2148840"/>
            </a:xfrm>
            <a:prstGeom prst="roundRect">
              <a:avLst>
                <a:gd name="adj" fmla="val 3404"/>
              </a:avLst>
            </a:prstGeom>
            <a:solidFill>
              <a:srgbClr val="FFFFFF"/>
            </a:solidFill>
            <a:ln/>
            <a:effectLst>
              <a:outerShdw blurRad="101600" dist="38100" dir="5400000" algn="bl" rotWithShape="0">
                <a:srgbClr val="000000">
                  <a:alpha val="12000"/>
                </a:srgbClr>
              </a:outerShdw>
            </a:effectLst>
          </p:spPr>
          <p:txBody>
            <a:bodyPr/>
            <a:lstStyle/>
            <a:p>
              <a:endParaRPr lang="en-US"/>
            </a:p>
          </p:txBody>
        </p:sp>
        <p:grpSp>
          <p:nvGrpSpPr>
            <p:cNvPr id="40" name="Group 39">
              <a:extLst>
                <a:ext uri="{FF2B5EF4-FFF2-40B4-BE49-F238E27FC236}">
                  <a16:creationId xmlns:a16="http://schemas.microsoft.com/office/drawing/2014/main" id="{48F311F8-A5E9-44CD-F984-107E4422FA30}"/>
                </a:ext>
              </a:extLst>
            </p:cNvPr>
            <p:cNvGrpSpPr/>
            <p:nvPr/>
          </p:nvGrpSpPr>
          <p:grpSpPr>
            <a:xfrm>
              <a:off x="5792350" y="4004606"/>
              <a:ext cx="723216" cy="723216"/>
              <a:chOff x="5811012" y="4114800"/>
              <a:chExt cx="585216" cy="585216"/>
            </a:xfrm>
          </p:grpSpPr>
          <p:sp>
            <p:nvSpPr>
              <p:cNvPr id="27" name="Shape 20"/>
              <p:cNvSpPr/>
              <p:nvPr/>
            </p:nvSpPr>
            <p:spPr>
              <a:xfrm>
                <a:off x="5811012" y="4114800"/>
                <a:ext cx="585216" cy="585216"/>
              </a:xfrm>
              <a:prstGeom prst="ellipse">
                <a:avLst/>
              </a:prstGeom>
              <a:solidFill>
                <a:srgbClr val="E8EDF5"/>
              </a:solidFill>
              <a:ln w="19050">
                <a:solidFill>
                  <a:srgbClr val="0E7C86"/>
                </a:solidFill>
              </a:ln>
            </p:spPr>
            <p:txBody>
              <a:bodyPr/>
              <a:lstStyle/>
              <a:p>
                <a:endParaRPr lang="en-US"/>
              </a:p>
            </p:txBody>
          </p:sp>
          <p:pic>
            <p:nvPicPr>
              <p:cNvPr id="28" name="Image 5" descr="icons/moon_teal.png"/>
              <p:cNvPicPr>
                <a:picLocks noChangeAspect="1"/>
              </p:cNvPicPr>
              <p:nvPr/>
            </p:nvPicPr>
            <p:blipFill>
              <a:blip r:embed="rId6"/>
              <a:stretch>
                <a:fillRect/>
              </a:stretch>
            </p:blipFill>
            <p:spPr>
              <a:xfrm>
                <a:off x="5963168" y="4266956"/>
                <a:ext cx="280904" cy="280904"/>
              </a:xfrm>
              <a:prstGeom prst="rect">
                <a:avLst/>
              </a:prstGeom>
            </p:spPr>
          </p:pic>
        </p:grpSp>
        <p:sp>
          <p:nvSpPr>
            <p:cNvPr id="29" name="Text 21"/>
            <p:cNvSpPr/>
            <p:nvPr/>
          </p:nvSpPr>
          <p:spPr>
            <a:xfrm>
              <a:off x="4480560" y="4800600"/>
              <a:ext cx="3246120" cy="365760"/>
            </a:xfrm>
            <a:prstGeom prst="rect">
              <a:avLst/>
            </a:prstGeom>
            <a:noFill/>
            <a:ln/>
          </p:spPr>
          <p:txBody>
            <a:bodyPr wrap="square" lIns="0" tIns="0" rIns="0" bIns="0" rtlCol="0" anchor="ctr"/>
            <a:lstStyle/>
            <a:p>
              <a:pPr marL="0" indent="0" algn="ctr">
                <a:buNone/>
              </a:pPr>
              <a:r>
                <a:rPr lang="en-US" sz="2000" b="1" dirty="0">
                  <a:solidFill>
                    <a:srgbClr val="17213B"/>
                  </a:solidFill>
                  <a:latin typeface="Cambria" pitchFamily="34" charset="0"/>
                  <a:ea typeface="Cambria" pitchFamily="34" charset="-122"/>
                  <a:cs typeface="Cambria" pitchFamily="34" charset="-120"/>
                </a:rPr>
                <a:t>Consistent Theming</a:t>
              </a:r>
              <a:endParaRPr lang="en-US" sz="2000" dirty="0"/>
            </a:p>
          </p:txBody>
        </p:sp>
        <p:sp>
          <p:nvSpPr>
            <p:cNvPr id="30" name="Text 22"/>
            <p:cNvSpPr/>
            <p:nvPr/>
          </p:nvSpPr>
          <p:spPr>
            <a:xfrm>
              <a:off x="4526280" y="5166360"/>
              <a:ext cx="3154680" cy="777240"/>
            </a:xfrm>
            <a:prstGeom prst="rect">
              <a:avLst/>
            </a:prstGeom>
            <a:noFill/>
            <a:ln/>
          </p:spPr>
          <p:txBody>
            <a:bodyPr wrap="square" lIns="0" tIns="0" rIns="0" bIns="0" rtlCol="0" anchor="t"/>
            <a:lstStyle/>
            <a:p>
              <a:pPr marL="0" indent="0" algn="ctr">
                <a:buNone/>
              </a:pPr>
              <a:r>
                <a:rPr lang="en-US" sz="1600" dirty="0">
                  <a:solidFill>
                    <a:srgbClr val="5B6B8C"/>
                  </a:solidFill>
                  <a:latin typeface="Cambria" panose="02040503050406030204" pitchFamily="18" charset="0"/>
                  <a:ea typeface="Cambria" panose="02040503050406030204" pitchFamily="18" charset="0"/>
                  <a:cs typeface="Calibri" pitchFamily="34" charset="-120"/>
                </a:rPr>
                <a:t>Implemented both Light and Dark mode within app to support user friendliness</a:t>
              </a:r>
              <a:endParaRPr lang="en-US" sz="1600" dirty="0">
                <a:latin typeface="Cambria" panose="02040503050406030204" pitchFamily="18" charset="0"/>
                <a:ea typeface="Cambria" panose="02040503050406030204" pitchFamily="18" charset="0"/>
              </a:endParaRPr>
            </a:p>
          </p:txBody>
        </p:sp>
      </p:grpSp>
      <p:sp>
        <p:nvSpPr>
          <p:cNvPr id="31" name="Shape 23"/>
          <p:cNvSpPr>
            <a:spLocks/>
          </p:cNvSpPr>
          <p:nvPr/>
        </p:nvSpPr>
        <p:spPr>
          <a:xfrm>
            <a:off x="6195169" y="3799916"/>
            <a:ext cx="3611880" cy="2148840"/>
          </a:xfrm>
          <a:prstGeom prst="roundRect">
            <a:avLst>
              <a:gd name="adj" fmla="val 3404"/>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36" name="Text 2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pic>
        <p:nvPicPr>
          <p:cNvPr id="37" name="Image 2" descr="icons/search_teal.png">
            <a:extLst>
              <a:ext uri="{FF2B5EF4-FFF2-40B4-BE49-F238E27FC236}">
                <a16:creationId xmlns:a16="http://schemas.microsoft.com/office/drawing/2014/main" id="{D8E08D21-5312-5935-6494-1CDCAD5930B6}"/>
              </a:ext>
            </a:extLst>
          </p:cNvPr>
          <p:cNvPicPr>
            <a:picLocks noChangeAspect="1"/>
          </p:cNvPicPr>
          <p:nvPr/>
        </p:nvPicPr>
        <p:blipFill>
          <a:blip r:embed="rId7"/>
          <a:stretch>
            <a:fillRect/>
          </a:stretch>
        </p:blipFill>
        <p:spPr>
          <a:xfrm>
            <a:off x="2138645" y="1722501"/>
            <a:ext cx="441106" cy="441106"/>
          </a:xfrm>
          <a:prstGeom prst="rect">
            <a:avLst/>
          </a:prstGeom>
        </p:spPr>
      </p:pic>
      <p:sp>
        <p:nvSpPr>
          <p:cNvPr id="47" name="Text 9">
            <a:extLst>
              <a:ext uri="{FF2B5EF4-FFF2-40B4-BE49-F238E27FC236}">
                <a16:creationId xmlns:a16="http://schemas.microsoft.com/office/drawing/2014/main" id="{38366506-B2D4-7427-63B6-1227B6B0DCBD}"/>
              </a:ext>
            </a:extLst>
          </p:cNvPr>
          <p:cNvSpPr/>
          <p:nvPr/>
        </p:nvSpPr>
        <p:spPr>
          <a:xfrm>
            <a:off x="6378049" y="4714316"/>
            <a:ext cx="3246120" cy="365760"/>
          </a:xfrm>
          <a:prstGeom prst="rect">
            <a:avLst/>
          </a:prstGeom>
          <a:noFill/>
          <a:ln/>
        </p:spPr>
        <p:txBody>
          <a:bodyPr wrap="square" lIns="0" tIns="0" rIns="0" bIns="0" rtlCol="0" anchor="ctr"/>
          <a:lstStyle/>
          <a:p>
            <a:pPr marL="0" indent="0" algn="ctr">
              <a:buNone/>
            </a:pPr>
            <a:r>
              <a:rPr lang="en-US" sz="2000" b="1" dirty="0">
                <a:solidFill>
                  <a:srgbClr val="17213B"/>
                </a:solidFill>
                <a:latin typeface="Cambria" pitchFamily="34" charset="0"/>
                <a:ea typeface="Cambria" pitchFamily="34" charset="-122"/>
              </a:rPr>
              <a:t>Quiz generation</a:t>
            </a:r>
            <a:endParaRPr lang="en-US" sz="2000" dirty="0"/>
          </a:p>
        </p:txBody>
      </p:sp>
      <p:sp>
        <p:nvSpPr>
          <p:cNvPr id="48" name="Text 10">
            <a:extLst>
              <a:ext uri="{FF2B5EF4-FFF2-40B4-BE49-F238E27FC236}">
                <a16:creationId xmlns:a16="http://schemas.microsoft.com/office/drawing/2014/main" id="{8D86B3BF-6CBB-1309-00DD-CCF301D6BB5C}"/>
              </a:ext>
            </a:extLst>
          </p:cNvPr>
          <p:cNvSpPr/>
          <p:nvPr/>
        </p:nvSpPr>
        <p:spPr>
          <a:xfrm>
            <a:off x="6423769" y="5080076"/>
            <a:ext cx="3154680" cy="777240"/>
          </a:xfrm>
          <a:prstGeom prst="rect">
            <a:avLst/>
          </a:prstGeom>
          <a:noFill/>
          <a:ln/>
        </p:spPr>
        <p:txBody>
          <a:bodyPr wrap="square" lIns="0" tIns="0" rIns="0" bIns="0" rtlCol="0" anchor="t"/>
          <a:lstStyle/>
          <a:p>
            <a:pPr marL="0" indent="0" algn="ctr">
              <a:buNone/>
            </a:pPr>
            <a:r>
              <a:rPr lang="en-US" sz="1600" dirty="0">
                <a:solidFill>
                  <a:srgbClr val="5B6B8C"/>
                </a:solidFill>
                <a:latin typeface="Cambria" panose="02040503050406030204" pitchFamily="18" charset="0"/>
                <a:ea typeface="Cambria" panose="02040503050406030204" pitchFamily="18" charset="0"/>
                <a:cs typeface="Calibri" pitchFamily="34" charset="-120"/>
              </a:rPr>
              <a:t>Generate small quiz on the note based on AI summary </a:t>
            </a:r>
            <a:endParaRPr lang="en-US" sz="1600" dirty="0">
              <a:latin typeface="Cambria" panose="02040503050406030204" pitchFamily="18" charset="0"/>
              <a:ea typeface="Cambria" panose="02040503050406030204" pitchFamily="18" charset="0"/>
            </a:endParaRPr>
          </a:p>
        </p:txBody>
      </p:sp>
      <p:grpSp>
        <p:nvGrpSpPr>
          <p:cNvPr id="50" name="Group 49">
            <a:extLst>
              <a:ext uri="{FF2B5EF4-FFF2-40B4-BE49-F238E27FC236}">
                <a16:creationId xmlns:a16="http://schemas.microsoft.com/office/drawing/2014/main" id="{967C9850-6BDC-B5B3-DF35-5B373FF7FE2D}"/>
              </a:ext>
            </a:extLst>
          </p:cNvPr>
          <p:cNvGrpSpPr/>
          <p:nvPr/>
        </p:nvGrpSpPr>
        <p:grpSpPr>
          <a:xfrm>
            <a:off x="7689839" y="3918322"/>
            <a:ext cx="723216" cy="723216"/>
            <a:chOff x="7689839" y="3918322"/>
            <a:chExt cx="723216" cy="723216"/>
          </a:xfrm>
        </p:grpSpPr>
        <p:sp>
          <p:nvSpPr>
            <p:cNvPr id="32" name="Shape 24"/>
            <p:cNvSpPr/>
            <p:nvPr/>
          </p:nvSpPr>
          <p:spPr>
            <a:xfrm>
              <a:off x="7689839" y="3918322"/>
              <a:ext cx="723216" cy="723216"/>
            </a:xfrm>
            <a:prstGeom prst="ellipse">
              <a:avLst/>
            </a:prstGeom>
            <a:solidFill>
              <a:srgbClr val="E8EDF5"/>
            </a:solidFill>
            <a:ln w="19050">
              <a:solidFill>
                <a:schemeClr val="tx1"/>
              </a:solidFill>
            </a:ln>
          </p:spPr>
          <p:txBody>
            <a:bodyPr/>
            <a:lstStyle/>
            <a:p>
              <a:endParaRPr lang="en-US" dirty="0"/>
            </a:p>
          </p:txBody>
        </p:sp>
        <p:sp>
          <p:nvSpPr>
            <p:cNvPr id="49" name="Text 9">
              <a:extLst>
                <a:ext uri="{FF2B5EF4-FFF2-40B4-BE49-F238E27FC236}">
                  <a16:creationId xmlns:a16="http://schemas.microsoft.com/office/drawing/2014/main" id="{88DDC78F-FEB1-A8F4-DEDB-76B06CAE22FF}"/>
                </a:ext>
              </a:extLst>
            </p:cNvPr>
            <p:cNvSpPr/>
            <p:nvPr/>
          </p:nvSpPr>
          <p:spPr>
            <a:xfrm>
              <a:off x="7799699" y="4097050"/>
              <a:ext cx="503495" cy="365760"/>
            </a:xfrm>
            <a:prstGeom prst="rect">
              <a:avLst/>
            </a:prstGeom>
            <a:noFill/>
            <a:ln/>
          </p:spPr>
          <p:txBody>
            <a:bodyPr wrap="square" lIns="0" tIns="0" rIns="0" bIns="0" rtlCol="0" anchor="ctr"/>
            <a:lstStyle/>
            <a:p>
              <a:pPr marL="0" indent="0" algn="ctr">
                <a:buNone/>
              </a:pPr>
              <a:r>
                <a:rPr lang="en-US" sz="3200" b="1" dirty="0">
                  <a:solidFill>
                    <a:srgbClr val="17213B"/>
                  </a:solidFill>
                  <a:latin typeface="Tahoma" panose="020B0604030504040204" pitchFamily="34" charset="0"/>
                  <a:ea typeface="Tahoma" panose="020B0604030504040204" pitchFamily="34" charset="0"/>
                  <a:cs typeface="Tahoma" panose="020B0604030504040204" pitchFamily="34" charset="0"/>
                </a:rPr>
                <a:t>?</a:t>
              </a:r>
              <a:endParaRPr lang="en-US" sz="3200" b="1" dirty="0">
                <a:latin typeface="Tahoma" panose="020B0604030504040204" pitchFamily="34" charset="0"/>
                <a:ea typeface="Tahoma" panose="020B0604030504040204" pitchFamily="34" charset="0"/>
                <a:cs typeface="Tahoma" panose="020B0604030504040204" pitchFamily="34" charset="0"/>
              </a:endParaRPr>
            </a:p>
          </p:txBody>
        </p:sp>
      </p:gr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9875520" y="3931920"/>
            <a:ext cx="3657600" cy="3657600"/>
          </a:xfrm>
          <a:prstGeom prst="ellipse">
            <a:avLst/>
          </a:prstGeom>
          <a:solidFill>
            <a:srgbClr val="1E2F52"/>
          </a:solidFill>
          <a:ln/>
        </p:spPr>
        <p:txBody>
          <a:bodyPr/>
          <a:lstStyle/>
          <a:p>
            <a:endParaRPr lang="en-US"/>
          </a:p>
        </p:txBody>
      </p:sp>
      <p:sp>
        <p:nvSpPr>
          <p:cNvPr id="3" name="Shape 1"/>
          <p:cNvSpPr/>
          <p:nvPr/>
        </p:nvSpPr>
        <p:spPr>
          <a:xfrm>
            <a:off x="502920" y="384048"/>
            <a:ext cx="566928" cy="566928"/>
          </a:xfrm>
          <a:prstGeom prst="ellipse">
            <a:avLst/>
          </a:prstGeom>
          <a:solidFill>
            <a:srgbClr val="1E2F52"/>
          </a:solidFill>
          <a:ln/>
        </p:spPr>
        <p:txBody>
          <a:bodyPr/>
          <a:lstStyle/>
          <a:p>
            <a:endParaRPr lang="en-US"/>
          </a:p>
        </p:txBody>
      </p:sp>
      <p:pic>
        <p:nvPicPr>
          <p:cNvPr id="4" name="Image 0" descr="icons/wrench_amber.png"/>
          <p:cNvPicPr>
            <a:picLocks noChangeAspect="1"/>
          </p:cNvPicPr>
          <p:nvPr/>
        </p:nvPicPr>
        <p:blipFill>
          <a:blip r:embed="rId3"/>
          <a:stretch>
            <a:fillRect/>
          </a:stretch>
        </p:blipFill>
        <p:spPr>
          <a:xfrm>
            <a:off x="650321" y="531449"/>
            <a:ext cx="272125" cy="272125"/>
          </a:xfrm>
          <a:prstGeom prst="rect">
            <a:avLst/>
          </a:prstGeom>
        </p:spPr>
      </p:pic>
      <p:sp>
        <p:nvSpPr>
          <p:cNvPr id="5" name="Text 2"/>
          <p:cNvSpPr/>
          <p:nvPr/>
        </p:nvSpPr>
        <p:spPr>
          <a:xfrm>
            <a:off x="1234440" y="365760"/>
            <a:ext cx="8229600" cy="274320"/>
          </a:xfrm>
          <a:prstGeom prst="rect">
            <a:avLst/>
          </a:prstGeom>
          <a:noFill/>
          <a:ln/>
        </p:spPr>
        <p:txBody>
          <a:bodyPr wrap="square"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PROBLEM-SOLVING, NOT JUST BUILDING</a:t>
            </a:r>
            <a:endParaRPr lang="en-US" sz="1200" dirty="0"/>
          </a:p>
        </p:txBody>
      </p:sp>
      <p:sp>
        <p:nvSpPr>
          <p:cNvPr id="6" name="Text 3"/>
          <p:cNvSpPr/>
          <p:nvPr/>
        </p:nvSpPr>
        <p:spPr>
          <a:xfrm>
            <a:off x="1234440" y="603504"/>
            <a:ext cx="100584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Challenges &amp; How We Solved Them</a:t>
            </a:r>
            <a:endParaRPr lang="en-US" sz="3000" dirty="0"/>
          </a:p>
        </p:txBody>
      </p:sp>
      <p:sp>
        <p:nvSpPr>
          <p:cNvPr id="7" name="Shape 4"/>
          <p:cNvSpPr>
            <a:spLocks noGrp="1" noRot="1" noMove="1" noResize="1" noEditPoints="1" noAdjustHandles="1" noChangeArrowheads="1" noChangeShapeType="1"/>
          </p:cNvSpPr>
          <p:nvPr/>
        </p:nvSpPr>
        <p:spPr>
          <a:xfrm>
            <a:off x="502920" y="1417320"/>
            <a:ext cx="11201400" cy="1444752"/>
          </a:xfrm>
          <a:prstGeom prst="roundRect">
            <a:avLst>
              <a:gd name="adj" fmla="val 5063"/>
            </a:avLst>
          </a:prstGeom>
          <a:solidFill>
            <a:srgbClr val="1E2F52"/>
          </a:solidFill>
          <a:ln/>
          <a:effectLst>
            <a:outerShdw blurRad="101600" dist="38100" dir="5400000" algn="bl" rotWithShape="0">
              <a:srgbClr val="000000">
                <a:alpha val="12000"/>
              </a:srgbClr>
            </a:outerShdw>
          </a:effectLst>
        </p:spPr>
        <p:txBody>
          <a:bodyPr/>
          <a:lstStyle/>
          <a:p>
            <a:endParaRPr lang="en-US"/>
          </a:p>
        </p:txBody>
      </p:sp>
      <p:sp>
        <p:nvSpPr>
          <p:cNvPr id="8" name="Text 5"/>
          <p:cNvSpPr/>
          <p:nvPr/>
        </p:nvSpPr>
        <p:spPr>
          <a:xfrm>
            <a:off x="777240" y="1563624"/>
            <a:ext cx="3017520" cy="1152144"/>
          </a:xfrm>
          <a:prstGeom prst="rect">
            <a:avLst/>
          </a:prstGeom>
          <a:noFill/>
          <a:ln/>
        </p:spPr>
        <p:txBody>
          <a:bodyPr wrap="square" lIns="0" tIns="0" rIns="0" bIns="0" rtlCol="0" anchor="ctr"/>
          <a:lstStyle/>
          <a:p>
            <a:pPr marL="0" indent="0" algn="ctr">
              <a:buNone/>
            </a:pPr>
            <a:r>
              <a:rPr lang="en-US" sz="2000" b="1" dirty="0">
                <a:solidFill>
                  <a:srgbClr val="F2A93B"/>
                </a:solidFill>
                <a:latin typeface="Cambria" pitchFamily="34" charset="0"/>
                <a:ea typeface="Cambria" pitchFamily="34" charset="-122"/>
                <a:cs typeface="Cambria" pitchFamily="34" charset="-120"/>
              </a:rPr>
              <a:t>Native libraries vs. Expo Go</a:t>
            </a:r>
            <a:endParaRPr lang="en-US" sz="2000" dirty="0"/>
          </a:p>
        </p:txBody>
      </p:sp>
      <p:sp>
        <p:nvSpPr>
          <p:cNvPr id="9" name="Text 6"/>
          <p:cNvSpPr/>
          <p:nvPr/>
        </p:nvSpPr>
        <p:spPr>
          <a:xfrm>
            <a:off x="3977640" y="1563624"/>
            <a:ext cx="3611880" cy="1152144"/>
          </a:xfrm>
          <a:prstGeom prst="rect">
            <a:avLst/>
          </a:prstGeom>
          <a:noFill/>
          <a:ln/>
        </p:spPr>
        <p:txBody>
          <a:bodyPr wrap="square" lIns="0" tIns="0" rIns="0" bIns="0" rtlCol="0" anchor="ctr"/>
          <a:lstStyle/>
          <a:p>
            <a:pPr marL="0" indent="0" algn="ctr">
              <a:buNone/>
            </a:pPr>
            <a:r>
              <a:rPr lang="en-US" dirty="0">
                <a:solidFill>
                  <a:srgbClr val="9FB0CE"/>
                </a:solidFill>
                <a:latin typeface="Cambria" panose="02040503050406030204" pitchFamily="18" charset="0"/>
                <a:ea typeface="Cambria" panose="02040503050406030204" pitchFamily="18" charset="0"/>
                <a:cs typeface="Calibri" pitchFamily="34" charset="-120"/>
              </a:rPr>
              <a:t>OCR/PDF-parsing native modules require ejecting from Expo Go.</a:t>
            </a:r>
            <a:endParaRPr lang="en-US" dirty="0">
              <a:latin typeface="Cambria" panose="02040503050406030204" pitchFamily="18" charset="0"/>
              <a:ea typeface="Cambria" panose="02040503050406030204" pitchFamily="18" charset="0"/>
            </a:endParaRPr>
          </a:p>
        </p:txBody>
      </p:sp>
      <p:sp>
        <p:nvSpPr>
          <p:cNvPr id="10" name="Text 7"/>
          <p:cNvSpPr/>
          <p:nvPr/>
        </p:nvSpPr>
        <p:spPr>
          <a:xfrm>
            <a:off x="7772400" y="1762179"/>
            <a:ext cx="3749040" cy="1152144"/>
          </a:xfrm>
          <a:prstGeom prst="rect">
            <a:avLst/>
          </a:prstGeom>
          <a:noFill/>
          <a:ln/>
        </p:spPr>
        <p:txBody>
          <a:bodyPr wrap="square" lIns="0" tIns="0" rIns="0" bIns="0" rtlCol="0" anchor="ctr"/>
          <a:lstStyle/>
          <a:p>
            <a:pPr marL="0" indent="0" algn="ctr">
              <a:buNone/>
            </a:pPr>
            <a:r>
              <a:rPr lang="en-US" dirty="0">
                <a:solidFill>
                  <a:srgbClr val="FFFFFF"/>
                </a:solidFill>
                <a:latin typeface="Cambria" panose="02040503050406030204" pitchFamily="18" charset="0"/>
                <a:ea typeface="Cambria" panose="02040503050406030204" pitchFamily="18" charset="0"/>
                <a:cs typeface="Calibri" pitchFamily="34" charset="-120"/>
              </a:rPr>
              <a:t>Send files directly to Gemini as inline data — extraction happens inside the AI call itself.</a:t>
            </a:r>
            <a:endParaRPr lang="en-US" dirty="0">
              <a:latin typeface="Cambria" panose="02040503050406030204" pitchFamily="18" charset="0"/>
              <a:ea typeface="Cambria" panose="02040503050406030204" pitchFamily="18" charset="0"/>
            </a:endParaRPr>
          </a:p>
        </p:txBody>
      </p:sp>
      <p:sp>
        <p:nvSpPr>
          <p:cNvPr id="11" name="Shape 8"/>
          <p:cNvSpPr>
            <a:spLocks noGrp="1" noRot="1" noMove="1" noResize="1" noEditPoints="1" noAdjustHandles="1" noChangeArrowheads="1" noChangeShapeType="1"/>
          </p:cNvSpPr>
          <p:nvPr/>
        </p:nvSpPr>
        <p:spPr>
          <a:xfrm>
            <a:off x="502920" y="3017520"/>
            <a:ext cx="11201400" cy="1444752"/>
          </a:xfrm>
          <a:prstGeom prst="roundRect">
            <a:avLst>
              <a:gd name="adj" fmla="val 5063"/>
            </a:avLst>
          </a:prstGeom>
          <a:solidFill>
            <a:srgbClr val="1E2F52"/>
          </a:solidFill>
          <a:ln/>
          <a:effectLst>
            <a:outerShdw blurRad="101600" dist="38100" dir="5400000" algn="bl" rotWithShape="0">
              <a:srgbClr val="000000">
                <a:alpha val="12000"/>
              </a:srgbClr>
            </a:outerShdw>
          </a:effectLst>
        </p:spPr>
        <p:txBody>
          <a:bodyPr/>
          <a:lstStyle/>
          <a:p>
            <a:endParaRPr lang="en-US"/>
          </a:p>
        </p:txBody>
      </p:sp>
      <p:sp>
        <p:nvSpPr>
          <p:cNvPr id="12" name="Text 9"/>
          <p:cNvSpPr/>
          <p:nvPr/>
        </p:nvSpPr>
        <p:spPr>
          <a:xfrm>
            <a:off x="777240" y="3163824"/>
            <a:ext cx="3017520" cy="1152144"/>
          </a:xfrm>
          <a:prstGeom prst="rect">
            <a:avLst/>
          </a:prstGeom>
          <a:noFill/>
          <a:ln/>
        </p:spPr>
        <p:txBody>
          <a:bodyPr wrap="square" lIns="0" tIns="0" rIns="0" bIns="0" rtlCol="0" anchor="ctr"/>
          <a:lstStyle/>
          <a:p>
            <a:pPr marL="0" indent="0" algn="ctr">
              <a:buNone/>
            </a:pPr>
            <a:r>
              <a:rPr lang="en-US" sz="2000" b="1" dirty="0">
                <a:solidFill>
                  <a:srgbClr val="F2A93B"/>
                </a:solidFill>
                <a:latin typeface="Cambria" pitchFamily="34" charset="0"/>
                <a:ea typeface="Cambria" pitchFamily="34" charset="-122"/>
                <a:cs typeface="Cambria" pitchFamily="34" charset="-120"/>
              </a:rPr>
              <a:t>Hidden “thinking tokens”</a:t>
            </a:r>
            <a:endParaRPr lang="en-US" sz="2000" dirty="0"/>
          </a:p>
        </p:txBody>
      </p:sp>
      <p:sp>
        <p:nvSpPr>
          <p:cNvPr id="13" name="Text 10"/>
          <p:cNvSpPr/>
          <p:nvPr/>
        </p:nvSpPr>
        <p:spPr>
          <a:xfrm>
            <a:off x="3977640" y="3132473"/>
            <a:ext cx="3611880" cy="1152144"/>
          </a:xfrm>
          <a:prstGeom prst="rect">
            <a:avLst/>
          </a:prstGeom>
          <a:noFill/>
          <a:ln/>
        </p:spPr>
        <p:txBody>
          <a:bodyPr wrap="square" lIns="0" tIns="0" rIns="0" bIns="0" rtlCol="0" anchor="ctr"/>
          <a:lstStyle/>
          <a:p>
            <a:pPr marL="0" indent="0" algn="ctr">
              <a:buNone/>
            </a:pPr>
            <a:r>
              <a:rPr lang="en-US" dirty="0">
                <a:solidFill>
                  <a:srgbClr val="9FB0CE"/>
                </a:solidFill>
                <a:latin typeface="Cambria" panose="02040503050406030204" pitchFamily="18" charset="0"/>
                <a:ea typeface="Cambria" panose="02040503050406030204" pitchFamily="18" charset="0"/>
                <a:cs typeface="Calibri" pitchFamily="34" charset="-120"/>
              </a:rPr>
              <a:t>Gemini 2.5's internal reasoning tokens were silently eating the visible output budget, truncating results.</a:t>
            </a:r>
            <a:endParaRPr lang="en-US" dirty="0">
              <a:latin typeface="Cambria" panose="02040503050406030204" pitchFamily="18" charset="0"/>
              <a:ea typeface="Cambria" panose="02040503050406030204" pitchFamily="18" charset="0"/>
            </a:endParaRPr>
          </a:p>
        </p:txBody>
      </p:sp>
      <p:sp>
        <p:nvSpPr>
          <p:cNvPr id="14" name="Text 11"/>
          <p:cNvSpPr/>
          <p:nvPr/>
        </p:nvSpPr>
        <p:spPr>
          <a:xfrm>
            <a:off x="7772400" y="3163824"/>
            <a:ext cx="3749040" cy="1152144"/>
          </a:xfrm>
          <a:prstGeom prst="rect">
            <a:avLst/>
          </a:prstGeom>
          <a:noFill/>
          <a:ln/>
        </p:spPr>
        <p:txBody>
          <a:bodyPr wrap="square" lIns="0" tIns="0" rIns="0" bIns="0" rtlCol="0" anchor="ctr"/>
          <a:lstStyle/>
          <a:p>
            <a:pPr marL="0" indent="0" algn="ctr">
              <a:buNone/>
            </a:pPr>
            <a:r>
              <a:rPr lang="en-US" dirty="0">
                <a:solidFill>
                  <a:srgbClr val="FFFFFF"/>
                </a:solidFill>
                <a:latin typeface="Cambria" panose="02040503050406030204" pitchFamily="18" charset="0"/>
                <a:ea typeface="Cambria" panose="02040503050406030204" pitchFamily="18" charset="0"/>
                <a:cs typeface="Calibri" pitchFamily="34" charset="-120"/>
              </a:rPr>
              <a:t>Capped thinkingConfig.thinkingBudget and raised maxOutputTokens so summaries/quizzes never got cut off.</a:t>
            </a:r>
            <a:endParaRPr lang="en-US" dirty="0">
              <a:latin typeface="Cambria" panose="02040503050406030204" pitchFamily="18" charset="0"/>
              <a:ea typeface="Cambria" panose="02040503050406030204" pitchFamily="18" charset="0"/>
            </a:endParaRPr>
          </a:p>
        </p:txBody>
      </p:sp>
      <p:sp>
        <p:nvSpPr>
          <p:cNvPr id="15" name="Shape 12"/>
          <p:cNvSpPr>
            <a:spLocks noGrp="1" noRot="1" noMove="1" noResize="1" noEditPoints="1" noAdjustHandles="1" noChangeArrowheads="1" noChangeShapeType="1"/>
          </p:cNvSpPr>
          <p:nvPr/>
        </p:nvSpPr>
        <p:spPr>
          <a:xfrm>
            <a:off x="502920" y="4617720"/>
            <a:ext cx="11201400" cy="1444752"/>
          </a:xfrm>
          <a:prstGeom prst="roundRect">
            <a:avLst>
              <a:gd name="adj" fmla="val 5063"/>
            </a:avLst>
          </a:prstGeom>
          <a:solidFill>
            <a:srgbClr val="1E2F52"/>
          </a:solidFill>
          <a:ln/>
          <a:effectLst>
            <a:outerShdw blurRad="101600" dist="38100" dir="5400000" algn="bl" rotWithShape="0">
              <a:srgbClr val="000000">
                <a:alpha val="12000"/>
              </a:srgbClr>
            </a:outerShdw>
          </a:effectLst>
        </p:spPr>
        <p:txBody>
          <a:bodyPr/>
          <a:lstStyle/>
          <a:p>
            <a:endParaRPr lang="en-US"/>
          </a:p>
        </p:txBody>
      </p:sp>
      <p:sp>
        <p:nvSpPr>
          <p:cNvPr id="16" name="Text 13"/>
          <p:cNvSpPr/>
          <p:nvPr/>
        </p:nvSpPr>
        <p:spPr>
          <a:xfrm>
            <a:off x="777240" y="4764024"/>
            <a:ext cx="3017520" cy="1152144"/>
          </a:xfrm>
          <a:prstGeom prst="rect">
            <a:avLst/>
          </a:prstGeom>
          <a:noFill/>
          <a:ln/>
        </p:spPr>
        <p:txBody>
          <a:bodyPr wrap="square" lIns="0" tIns="0" rIns="0" bIns="0" rtlCol="0" anchor="ctr"/>
          <a:lstStyle/>
          <a:p>
            <a:pPr marL="0" indent="0" algn="ctr">
              <a:buNone/>
            </a:pPr>
            <a:r>
              <a:rPr lang="en-US" sz="2000" b="1" dirty="0">
                <a:solidFill>
                  <a:srgbClr val="F2A93B"/>
                </a:solidFill>
                <a:latin typeface="Cambria" pitchFamily="34" charset="0"/>
                <a:ea typeface="Cambria" pitchFamily="34" charset="-122"/>
                <a:cs typeface="Cambria" pitchFamily="34" charset="-120"/>
              </a:rPr>
              <a:t>Storage cost on the free tier</a:t>
            </a:r>
            <a:endParaRPr lang="en-US" sz="2000" dirty="0"/>
          </a:p>
        </p:txBody>
      </p:sp>
      <p:sp>
        <p:nvSpPr>
          <p:cNvPr id="17" name="Text 14"/>
          <p:cNvSpPr/>
          <p:nvPr/>
        </p:nvSpPr>
        <p:spPr>
          <a:xfrm>
            <a:off x="3977640" y="4764024"/>
            <a:ext cx="3611880" cy="1152144"/>
          </a:xfrm>
          <a:prstGeom prst="rect">
            <a:avLst/>
          </a:prstGeom>
          <a:noFill/>
          <a:ln/>
        </p:spPr>
        <p:txBody>
          <a:bodyPr wrap="square" lIns="0" tIns="0" rIns="0" bIns="0" rtlCol="0" anchor="ctr"/>
          <a:lstStyle/>
          <a:p>
            <a:pPr marL="0" indent="0" algn="ctr">
              <a:buNone/>
            </a:pPr>
            <a:r>
              <a:rPr lang="en-US" dirty="0">
                <a:solidFill>
                  <a:srgbClr val="9FB0CE"/>
                </a:solidFill>
                <a:latin typeface="Cambria" panose="02040503050406030204" pitchFamily="18" charset="0"/>
                <a:ea typeface="Cambria" panose="02040503050406030204" pitchFamily="18" charset="0"/>
                <a:cs typeface="Calibri" pitchFamily="34" charset="-120"/>
              </a:rPr>
              <a:t>Storing large binary files in Firestore/Cloud Storage burns through free-tier limits fast.</a:t>
            </a:r>
            <a:endParaRPr lang="en-US" dirty="0">
              <a:latin typeface="Cambria" panose="02040503050406030204" pitchFamily="18" charset="0"/>
              <a:ea typeface="Cambria" panose="02040503050406030204" pitchFamily="18" charset="0"/>
            </a:endParaRPr>
          </a:p>
        </p:txBody>
      </p:sp>
      <p:sp>
        <p:nvSpPr>
          <p:cNvPr id="18" name="Text 15"/>
          <p:cNvSpPr/>
          <p:nvPr/>
        </p:nvSpPr>
        <p:spPr>
          <a:xfrm>
            <a:off x="7772400" y="4764024"/>
            <a:ext cx="3749040" cy="1152144"/>
          </a:xfrm>
          <a:prstGeom prst="rect">
            <a:avLst/>
          </a:prstGeom>
          <a:noFill/>
          <a:ln/>
        </p:spPr>
        <p:txBody>
          <a:bodyPr wrap="square" lIns="0" tIns="0" rIns="0" bIns="0" rtlCol="0" anchor="ctr"/>
          <a:lstStyle/>
          <a:p>
            <a:pPr marL="0" indent="0" algn="ctr">
              <a:buNone/>
            </a:pPr>
            <a:r>
              <a:rPr lang="en-US" dirty="0">
                <a:solidFill>
                  <a:srgbClr val="FFFFFF"/>
                </a:solidFill>
                <a:latin typeface="Cambria" panose="02040503050406030204" pitchFamily="18" charset="0"/>
                <a:ea typeface="Cambria" panose="02040503050406030204" pitchFamily="18" charset="0"/>
                <a:cs typeface="Calibri" pitchFamily="34" charset="-120"/>
              </a:rPr>
              <a:t>Hybrid model: metadata in Firestore, actual files kept in local on-device storage.</a:t>
            </a:r>
            <a:endParaRPr lang="en-US" dirty="0">
              <a:latin typeface="Cambria" panose="02040503050406030204" pitchFamily="18" charset="0"/>
              <a:ea typeface="Cambria" panose="02040503050406030204" pitchFamily="18" charset="0"/>
            </a:endParaRPr>
          </a:p>
        </p:txBody>
      </p:sp>
      <p:sp>
        <p:nvSpPr>
          <p:cNvPr id="19" name="Text 1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FB0CE"/>
                </a:solidFill>
                <a:latin typeface="Calibri" pitchFamily="34" charset="0"/>
                <a:ea typeface="Calibri" pitchFamily="34" charset="-122"/>
                <a:cs typeface="Calibri" pitchFamily="34" charset="-120"/>
              </a:rPr>
              <a:t>11</a:t>
            </a:r>
            <a:endParaRPr lang="en-US" sz="1000" dirty="0"/>
          </a:p>
        </p:txBody>
      </p:sp>
      <p:sp>
        <p:nvSpPr>
          <p:cNvPr id="20" name="Text 6">
            <a:extLst>
              <a:ext uri="{FF2B5EF4-FFF2-40B4-BE49-F238E27FC236}">
                <a16:creationId xmlns:a16="http://schemas.microsoft.com/office/drawing/2014/main" id="{60E73E9A-C060-6C7F-5AF1-C3DED13DA787}"/>
              </a:ext>
            </a:extLst>
          </p:cNvPr>
          <p:cNvSpPr/>
          <p:nvPr/>
        </p:nvSpPr>
        <p:spPr>
          <a:xfrm>
            <a:off x="3794760" y="1432995"/>
            <a:ext cx="3611880" cy="329184"/>
          </a:xfrm>
          <a:prstGeom prst="rect">
            <a:avLst/>
          </a:prstGeom>
          <a:noFill/>
          <a:ln/>
        </p:spPr>
        <p:txBody>
          <a:bodyPr wrap="square" lIns="0" tIns="0" rIns="0" bIns="0" rtlCol="0" anchor="ctr"/>
          <a:lstStyle/>
          <a:p>
            <a:pPr marL="0" indent="0" algn="ctr">
              <a:buNone/>
            </a:pPr>
            <a:r>
              <a:rPr lang="en-US" b="1" dirty="0">
                <a:solidFill>
                  <a:srgbClr val="F2A93B"/>
                </a:solidFill>
                <a:latin typeface="Cambria" panose="02040503050406030204" pitchFamily="18" charset="0"/>
                <a:ea typeface="Cambria" panose="02040503050406030204" pitchFamily="18" charset="0"/>
                <a:cs typeface="Calibri" pitchFamily="34" charset="-120"/>
              </a:rPr>
              <a:t>Challenge</a:t>
            </a:r>
            <a:endParaRPr lang="en-US" b="1" dirty="0">
              <a:solidFill>
                <a:srgbClr val="F2A93B"/>
              </a:solidFill>
              <a:latin typeface="Cambria" panose="02040503050406030204" pitchFamily="18" charset="0"/>
              <a:ea typeface="Cambria" panose="02040503050406030204" pitchFamily="18" charset="0"/>
            </a:endParaRPr>
          </a:p>
        </p:txBody>
      </p:sp>
      <p:sp>
        <p:nvSpPr>
          <p:cNvPr id="22" name="Text 6">
            <a:extLst>
              <a:ext uri="{FF2B5EF4-FFF2-40B4-BE49-F238E27FC236}">
                <a16:creationId xmlns:a16="http://schemas.microsoft.com/office/drawing/2014/main" id="{71C1C043-7B5C-A498-B18F-BF9B1EAB265C}"/>
              </a:ext>
            </a:extLst>
          </p:cNvPr>
          <p:cNvSpPr/>
          <p:nvPr/>
        </p:nvSpPr>
        <p:spPr>
          <a:xfrm>
            <a:off x="7589520" y="1439153"/>
            <a:ext cx="3611880" cy="329184"/>
          </a:xfrm>
          <a:prstGeom prst="rect">
            <a:avLst/>
          </a:prstGeom>
          <a:noFill/>
          <a:ln/>
        </p:spPr>
        <p:txBody>
          <a:bodyPr wrap="square" lIns="0" tIns="0" rIns="0" bIns="0" rtlCol="0" anchor="ctr"/>
          <a:lstStyle/>
          <a:p>
            <a:pPr marL="0" indent="0" algn="ctr">
              <a:buNone/>
            </a:pPr>
            <a:r>
              <a:rPr lang="en-US" b="1" dirty="0">
                <a:solidFill>
                  <a:srgbClr val="F2A93B"/>
                </a:solidFill>
                <a:latin typeface="Cambria" panose="02040503050406030204" pitchFamily="18" charset="0"/>
                <a:ea typeface="Cambria" panose="02040503050406030204" pitchFamily="18" charset="0"/>
                <a:cs typeface="Calibri" pitchFamily="34" charset="-120"/>
              </a:rPr>
              <a:t>Solution</a:t>
            </a:r>
            <a:endParaRPr lang="en-US" b="1" dirty="0">
              <a:solidFill>
                <a:srgbClr val="F2A93B"/>
              </a:solidFill>
              <a:latin typeface="Cambria" panose="02040503050406030204" pitchFamily="18" charset="0"/>
              <a:ea typeface="Cambria" panose="02040503050406030204" pitchFamily="18" charset="0"/>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3200400" y="-2743200"/>
            <a:ext cx="6400800" cy="6400800"/>
          </a:xfrm>
          <a:prstGeom prst="ellipse">
            <a:avLst/>
          </a:prstGeom>
          <a:solidFill>
            <a:srgbClr val="1E2F52"/>
          </a:solidFill>
          <a:ln/>
        </p:spPr>
        <p:txBody>
          <a:bodyPr/>
          <a:lstStyle/>
          <a:p>
            <a:endParaRPr lang="en-US"/>
          </a:p>
        </p:txBody>
      </p:sp>
      <p:sp>
        <p:nvSpPr>
          <p:cNvPr id="3" name="Shape 1"/>
          <p:cNvSpPr/>
          <p:nvPr/>
        </p:nvSpPr>
        <p:spPr>
          <a:xfrm>
            <a:off x="5591556" y="1965960"/>
            <a:ext cx="1005840" cy="1005840"/>
          </a:xfrm>
          <a:prstGeom prst="ellipse">
            <a:avLst/>
          </a:prstGeom>
          <a:solidFill>
            <a:srgbClr val="1E2F52"/>
          </a:solidFill>
          <a:ln/>
        </p:spPr>
        <p:txBody>
          <a:bodyPr/>
          <a:lstStyle/>
          <a:p>
            <a:endParaRPr lang="en-US"/>
          </a:p>
        </p:txBody>
      </p:sp>
      <p:pic>
        <p:nvPicPr>
          <p:cNvPr id="4" name="Image 0" descr="icons/play_amber.png"/>
          <p:cNvPicPr>
            <a:picLocks noChangeAspect="1"/>
          </p:cNvPicPr>
          <p:nvPr/>
        </p:nvPicPr>
        <p:blipFill>
          <a:blip r:embed="rId3"/>
          <a:stretch>
            <a:fillRect/>
          </a:stretch>
        </p:blipFill>
        <p:spPr>
          <a:xfrm>
            <a:off x="5853074" y="2227478"/>
            <a:ext cx="482803" cy="482803"/>
          </a:xfrm>
          <a:prstGeom prst="rect">
            <a:avLst/>
          </a:prstGeom>
        </p:spPr>
      </p:pic>
      <p:sp>
        <p:nvSpPr>
          <p:cNvPr id="5" name="Text 2"/>
          <p:cNvSpPr/>
          <p:nvPr/>
        </p:nvSpPr>
        <p:spPr>
          <a:xfrm>
            <a:off x="822960" y="3200400"/>
            <a:ext cx="1051560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Live Demonstration</a:t>
            </a:r>
            <a:endParaRPr lang="en-US" sz="3400" dirty="0"/>
          </a:p>
        </p:txBody>
      </p:sp>
      <p:sp>
        <p:nvSpPr>
          <p:cNvPr id="6" name="Text 3"/>
          <p:cNvSpPr/>
          <p:nvPr/>
        </p:nvSpPr>
        <p:spPr>
          <a:xfrm>
            <a:off x="822960" y="3931920"/>
            <a:ext cx="10515600" cy="457200"/>
          </a:xfrm>
          <a:prstGeom prst="rect">
            <a:avLst/>
          </a:prstGeom>
          <a:noFill/>
          <a:ln/>
        </p:spPr>
        <p:txBody>
          <a:bodyPr wrap="square" lIns="0" tIns="0" rIns="0" bIns="0" rtlCol="0" anchor="ctr"/>
          <a:lstStyle/>
          <a:p>
            <a:pPr marL="0" indent="0" algn="ctr">
              <a:buNone/>
            </a:pPr>
            <a:r>
              <a:rPr lang="en-US" sz="2000" dirty="0">
                <a:solidFill>
                  <a:srgbClr val="F2A93B"/>
                </a:solidFill>
                <a:latin typeface="Cambria" panose="02040503050406030204" pitchFamily="18" charset="0"/>
                <a:ea typeface="Cambria" panose="02040503050406030204" pitchFamily="18" charset="0"/>
                <a:cs typeface="Calibri" pitchFamily="34" charset="-120"/>
              </a:rPr>
              <a:t>Register/Login  →  Upload  →  Organize  →  Summarize  →  Quiz  →  Share</a:t>
            </a:r>
            <a:endParaRPr lang="en-US" sz="2000" dirty="0">
              <a:latin typeface="Cambria" panose="02040503050406030204" pitchFamily="18" charset="0"/>
              <a:ea typeface="Cambria" panose="02040503050406030204" pitchFamily="18" charset="0"/>
            </a:endParaRPr>
          </a:p>
        </p:txBody>
      </p:sp>
      <p:sp>
        <p:nvSpPr>
          <p:cNvPr id="7" name="Text 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FB0CE"/>
                </a:solidFill>
                <a:latin typeface="Calibri" pitchFamily="34" charset="0"/>
                <a:ea typeface="Calibri" pitchFamily="34" charset="-122"/>
                <a:cs typeface="Calibri" pitchFamily="34" charset="-120"/>
              </a:rPr>
              <a:t>14</a:t>
            </a:r>
            <a:endParaRPr lang="en-US" sz="1000"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5233B"/>
          </a:solidFill>
          <a:ln/>
        </p:spPr>
        <p:txBody>
          <a:bodyPr/>
          <a:lstStyle/>
          <a:p>
            <a:endParaRPr lang="en-US"/>
          </a:p>
        </p:txBody>
      </p:sp>
      <p:pic>
        <p:nvPicPr>
          <p:cNvPr id="3" name="Image 0" descr="icons/rocket_amber.png"/>
          <p:cNvPicPr>
            <a:picLocks noChangeAspect="1"/>
          </p:cNvPicPr>
          <p:nvPr/>
        </p:nvPicPr>
        <p:blipFill>
          <a:blip r:embed="rId3"/>
          <a:stretch>
            <a:fillRect/>
          </a:stretch>
        </p:blipFill>
        <p:spPr>
          <a:xfrm>
            <a:off x="650321" y="531449"/>
            <a:ext cx="272125" cy="272125"/>
          </a:xfrm>
          <a:prstGeom prst="rect">
            <a:avLst/>
          </a:prstGeom>
        </p:spPr>
      </p:pic>
      <p:sp>
        <p:nvSpPr>
          <p:cNvPr id="4" name="Text 1"/>
          <p:cNvSpPr/>
          <p:nvPr/>
        </p:nvSpPr>
        <p:spPr>
          <a:xfrm>
            <a:off x="1234440" y="365760"/>
            <a:ext cx="7315200" cy="274320"/>
          </a:xfrm>
          <a:prstGeom prst="rect">
            <a:avLst/>
          </a:prstGeom>
          <a:noFill/>
          <a:ln/>
        </p:spPr>
        <p:txBody>
          <a:bodyPr wrap="square"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WHERE WE'D TAKE IT NEXT</a:t>
            </a:r>
            <a:endParaRPr lang="en-US" sz="1200" dirty="0"/>
          </a:p>
        </p:txBody>
      </p:sp>
      <p:sp>
        <p:nvSpPr>
          <p:cNvPr id="5" name="Text 2"/>
          <p:cNvSpPr/>
          <p:nvPr/>
        </p:nvSpPr>
        <p:spPr>
          <a:xfrm>
            <a:off x="1234440" y="603504"/>
            <a:ext cx="10241280" cy="566928"/>
          </a:xfrm>
          <a:prstGeom prst="rect">
            <a:avLst/>
          </a:prstGeom>
          <a:noFill/>
          <a:ln/>
        </p:spPr>
        <p:txBody>
          <a:bodyPr wrap="square" lIns="0" tIns="0" rIns="0" bIns="0" rtlCol="0" anchor="ctr"/>
          <a:lstStyle/>
          <a:p>
            <a:pPr marL="0" indent="0">
              <a:buNone/>
            </a:pPr>
            <a:r>
              <a:rPr lang="en-US" sz="3000" b="1" dirty="0">
                <a:solidFill>
                  <a:srgbClr val="17213B"/>
                </a:solidFill>
                <a:latin typeface="Cambria" pitchFamily="34" charset="0"/>
                <a:ea typeface="Cambria" pitchFamily="34" charset="-122"/>
                <a:cs typeface="Cambria" pitchFamily="34" charset="-120"/>
              </a:rPr>
              <a:t>Future Improvements</a:t>
            </a:r>
            <a:endParaRPr lang="en-US" sz="3000" dirty="0"/>
          </a:p>
        </p:txBody>
      </p:sp>
      <p:sp>
        <p:nvSpPr>
          <p:cNvPr id="6" name="Shape 3"/>
          <p:cNvSpPr>
            <a:spLocks noGrp="1" noRot="1" noMove="1" noResize="1" noEditPoints="1" noAdjustHandles="1" noChangeArrowheads="1" noChangeShapeType="1"/>
          </p:cNvSpPr>
          <p:nvPr/>
        </p:nvSpPr>
        <p:spPr>
          <a:xfrm>
            <a:off x="502920" y="1600200"/>
            <a:ext cx="5349240" cy="1828800"/>
          </a:xfrm>
          <a:prstGeom prst="roundRect">
            <a:avLst>
              <a:gd name="adj" fmla="val 4000"/>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7" name="Shape 4"/>
          <p:cNvSpPr/>
          <p:nvPr/>
        </p:nvSpPr>
        <p:spPr>
          <a:xfrm>
            <a:off x="777240" y="2286000"/>
            <a:ext cx="457200" cy="457200"/>
          </a:xfrm>
          <a:prstGeom prst="ellipse">
            <a:avLst/>
          </a:prstGeom>
          <a:solidFill>
            <a:srgbClr val="0E7C86"/>
          </a:solidFill>
          <a:ln/>
        </p:spPr>
        <p:txBody>
          <a:bodyPr/>
          <a:lstStyle/>
          <a:p>
            <a:endParaRPr lang="en-US"/>
          </a:p>
        </p:txBody>
      </p:sp>
      <p:sp>
        <p:nvSpPr>
          <p:cNvPr id="8" name="Text 5"/>
          <p:cNvSpPr/>
          <p:nvPr/>
        </p:nvSpPr>
        <p:spPr>
          <a:xfrm>
            <a:off x="777240" y="228600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417320" y="1856232"/>
            <a:ext cx="4206240" cy="365760"/>
          </a:xfrm>
          <a:prstGeom prst="rect">
            <a:avLst/>
          </a:prstGeom>
          <a:noFill/>
          <a:ln/>
        </p:spPr>
        <p:txBody>
          <a:bodyPr wrap="square" lIns="0" tIns="0" rIns="0" bIns="0" rtlCol="0" anchor="ctr"/>
          <a:lstStyle/>
          <a:p>
            <a:pPr marL="0" indent="0">
              <a:buNone/>
            </a:pPr>
            <a:r>
              <a:rPr lang="en-US" sz="2400" b="1" dirty="0">
                <a:solidFill>
                  <a:srgbClr val="17213B"/>
                </a:solidFill>
                <a:latin typeface="Cambria" panose="02040503050406030204" pitchFamily="18" charset="0"/>
                <a:ea typeface="Cambria" panose="02040503050406030204" pitchFamily="18" charset="0"/>
                <a:cs typeface="Cambria" pitchFamily="34" charset="-120"/>
              </a:rPr>
              <a:t>Push Notifications</a:t>
            </a:r>
            <a:endParaRPr lang="en-US" sz="2400" dirty="0">
              <a:latin typeface="Cambria" panose="02040503050406030204" pitchFamily="18" charset="0"/>
              <a:ea typeface="Cambria" panose="02040503050406030204" pitchFamily="18" charset="0"/>
            </a:endParaRPr>
          </a:p>
        </p:txBody>
      </p:sp>
      <p:sp>
        <p:nvSpPr>
          <p:cNvPr id="10" name="Text 7"/>
          <p:cNvSpPr/>
          <p:nvPr/>
        </p:nvSpPr>
        <p:spPr>
          <a:xfrm>
            <a:off x="1417320" y="2240280"/>
            <a:ext cx="4206240" cy="1051560"/>
          </a:xfrm>
          <a:prstGeom prst="rect">
            <a:avLst/>
          </a:prstGeom>
          <a:noFill/>
          <a:ln/>
        </p:spPr>
        <p:txBody>
          <a:bodyPr wrap="square" lIns="0" tIns="0" rIns="0" bIns="0" rtlCol="0" anchor="t"/>
          <a:lstStyle/>
          <a:p>
            <a:pPr marL="0" indent="0">
              <a:buNone/>
            </a:pPr>
            <a:r>
              <a:rPr lang="en-US" sz="2000" dirty="0">
                <a:solidFill>
                  <a:srgbClr val="5B6B8C"/>
                </a:solidFill>
                <a:latin typeface="Cambria" panose="02040503050406030204" pitchFamily="18" charset="0"/>
                <a:ea typeface="Cambria" panose="02040503050406030204" pitchFamily="18" charset="0"/>
                <a:cs typeface="Calibri" pitchFamily="34" charset="-120"/>
              </a:rPr>
              <a:t>Move beyond in-app alerts to real device push notifications</a:t>
            </a:r>
            <a:endParaRPr lang="en-US" sz="2000" dirty="0">
              <a:latin typeface="Cambria" panose="02040503050406030204" pitchFamily="18" charset="0"/>
              <a:ea typeface="Cambria" panose="02040503050406030204" pitchFamily="18" charset="0"/>
            </a:endParaRPr>
          </a:p>
        </p:txBody>
      </p:sp>
      <p:sp>
        <p:nvSpPr>
          <p:cNvPr id="11" name="Shape 8"/>
          <p:cNvSpPr>
            <a:spLocks noGrp="1" noRot="1" noMove="1" noResize="1" noEditPoints="1" noAdjustHandles="1" noChangeArrowheads="1" noChangeShapeType="1"/>
          </p:cNvSpPr>
          <p:nvPr/>
        </p:nvSpPr>
        <p:spPr>
          <a:xfrm>
            <a:off x="6309360" y="1600200"/>
            <a:ext cx="5349240" cy="1828800"/>
          </a:xfrm>
          <a:prstGeom prst="roundRect">
            <a:avLst>
              <a:gd name="adj" fmla="val 4000"/>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2" name="Shape 9"/>
          <p:cNvSpPr/>
          <p:nvPr/>
        </p:nvSpPr>
        <p:spPr>
          <a:xfrm>
            <a:off x="6583680" y="2286000"/>
            <a:ext cx="457200" cy="457200"/>
          </a:xfrm>
          <a:prstGeom prst="ellipse">
            <a:avLst/>
          </a:prstGeom>
          <a:solidFill>
            <a:srgbClr val="0E7C86"/>
          </a:solidFill>
          <a:ln/>
        </p:spPr>
        <p:txBody>
          <a:bodyPr/>
          <a:lstStyle/>
          <a:p>
            <a:endParaRPr lang="en-US"/>
          </a:p>
        </p:txBody>
      </p:sp>
      <p:sp>
        <p:nvSpPr>
          <p:cNvPr id="13" name="Text 10"/>
          <p:cNvSpPr/>
          <p:nvPr/>
        </p:nvSpPr>
        <p:spPr>
          <a:xfrm>
            <a:off x="6583680" y="228600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223760" y="1856232"/>
            <a:ext cx="4206240" cy="365760"/>
          </a:xfrm>
          <a:prstGeom prst="rect">
            <a:avLst/>
          </a:prstGeom>
          <a:noFill/>
          <a:ln/>
        </p:spPr>
        <p:txBody>
          <a:bodyPr wrap="square" lIns="0" tIns="0" rIns="0" bIns="0" rtlCol="0" anchor="ctr"/>
          <a:lstStyle/>
          <a:p>
            <a:pPr marL="0" indent="0">
              <a:buNone/>
            </a:pPr>
            <a:r>
              <a:rPr lang="en-US" sz="2400" b="1" dirty="0">
                <a:solidFill>
                  <a:srgbClr val="17213B"/>
                </a:solidFill>
                <a:latin typeface="Cambria" panose="02040503050406030204" pitchFamily="18" charset="0"/>
                <a:ea typeface="Cambria" panose="02040503050406030204" pitchFamily="18" charset="0"/>
                <a:cs typeface="Cambria" pitchFamily="34" charset="-120"/>
              </a:rPr>
              <a:t>Cloud Backup &amp; Sync</a:t>
            </a:r>
            <a:endParaRPr lang="en-US" sz="2400" dirty="0">
              <a:latin typeface="Cambria" panose="02040503050406030204" pitchFamily="18" charset="0"/>
              <a:ea typeface="Cambria" panose="02040503050406030204" pitchFamily="18" charset="0"/>
            </a:endParaRPr>
          </a:p>
        </p:txBody>
      </p:sp>
      <p:sp>
        <p:nvSpPr>
          <p:cNvPr id="15" name="Text 12"/>
          <p:cNvSpPr/>
          <p:nvPr/>
        </p:nvSpPr>
        <p:spPr>
          <a:xfrm>
            <a:off x="7223760" y="2240280"/>
            <a:ext cx="4206240" cy="1051560"/>
          </a:xfrm>
          <a:prstGeom prst="rect">
            <a:avLst/>
          </a:prstGeom>
          <a:noFill/>
          <a:ln/>
        </p:spPr>
        <p:txBody>
          <a:bodyPr wrap="square" lIns="0" tIns="0" rIns="0" bIns="0" rtlCol="0" anchor="t"/>
          <a:lstStyle/>
          <a:p>
            <a:pPr marL="0" indent="0">
              <a:buNone/>
            </a:pPr>
            <a:r>
              <a:rPr lang="en-US" sz="2000" dirty="0">
                <a:solidFill>
                  <a:srgbClr val="5B6B8C"/>
                </a:solidFill>
                <a:latin typeface="Cambria" panose="02040503050406030204" pitchFamily="18" charset="0"/>
                <a:ea typeface="Cambria" panose="02040503050406030204" pitchFamily="18" charset="0"/>
                <a:cs typeface="Calibri" pitchFamily="34" charset="-120"/>
              </a:rPr>
              <a:t>Back up local files to the cloud and sync across devices</a:t>
            </a:r>
            <a:endParaRPr lang="en-US" sz="2000" dirty="0">
              <a:latin typeface="Cambria" panose="02040503050406030204" pitchFamily="18" charset="0"/>
              <a:ea typeface="Cambria" panose="02040503050406030204" pitchFamily="18" charset="0"/>
            </a:endParaRPr>
          </a:p>
        </p:txBody>
      </p:sp>
      <p:sp>
        <p:nvSpPr>
          <p:cNvPr id="16" name="Shape 13"/>
          <p:cNvSpPr>
            <a:spLocks noGrp="1" noRot="1" noMove="1" noResize="1" noEditPoints="1" noAdjustHandles="1" noChangeArrowheads="1" noChangeShapeType="1"/>
          </p:cNvSpPr>
          <p:nvPr/>
        </p:nvSpPr>
        <p:spPr>
          <a:xfrm>
            <a:off x="502920" y="3749040"/>
            <a:ext cx="5349240" cy="1828800"/>
          </a:xfrm>
          <a:prstGeom prst="roundRect">
            <a:avLst>
              <a:gd name="adj" fmla="val 4000"/>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7" name="Shape 14"/>
          <p:cNvSpPr/>
          <p:nvPr/>
        </p:nvSpPr>
        <p:spPr>
          <a:xfrm>
            <a:off x="777240" y="4434840"/>
            <a:ext cx="457200" cy="457200"/>
          </a:xfrm>
          <a:prstGeom prst="ellipse">
            <a:avLst/>
          </a:prstGeom>
          <a:solidFill>
            <a:srgbClr val="0E7C86"/>
          </a:solidFill>
          <a:ln/>
        </p:spPr>
        <p:txBody>
          <a:bodyPr/>
          <a:lstStyle/>
          <a:p>
            <a:endParaRPr lang="en-US"/>
          </a:p>
        </p:txBody>
      </p:sp>
      <p:sp>
        <p:nvSpPr>
          <p:cNvPr id="18" name="Text 15"/>
          <p:cNvSpPr/>
          <p:nvPr/>
        </p:nvSpPr>
        <p:spPr>
          <a:xfrm>
            <a:off x="777240" y="44348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417320" y="4005072"/>
            <a:ext cx="4206240" cy="365760"/>
          </a:xfrm>
          <a:prstGeom prst="rect">
            <a:avLst/>
          </a:prstGeom>
          <a:noFill/>
          <a:ln/>
        </p:spPr>
        <p:txBody>
          <a:bodyPr wrap="square" lIns="0" tIns="0" rIns="0" bIns="0" rtlCol="0" anchor="ctr"/>
          <a:lstStyle/>
          <a:p>
            <a:pPr marL="0" indent="0">
              <a:buNone/>
            </a:pPr>
            <a:r>
              <a:rPr lang="en-US" sz="2400" b="1" dirty="0">
                <a:solidFill>
                  <a:srgbClr val="17213B"/>
                </a:solidFill>
                <a:latin typeface="Cambria" panose="02040503050406030204" pitchFamily="18" charset="0"/>
                <a:ea typeface="Cambria" panose="02040503050406030204" pitchFamily="18" charset="0"/>
                <a:cs typeface="Cambria" pitchFamily="34" charset="-120"/>
              </a:rPr>
              <a:t>OCR Fallback</a:t>
            </a:r>
            <a:endParaRPr lang="en-US" sz="2400" dirty="0">
              <a:latin typeface="Cambria" panose="02040503050406030204" pitchFamily="18" charset="0"/>
              <a:ea typeface="Cambria" panose="02040503050406030204" pitchFamily="18" charset="0"/>
            </a:endParaRPr>
          </a:p>
        </p:txBody>
      </p:sp>
      <p:sp>
        <p:nvSpPr>
          <p:cNvPr id="20" name="Text 17"/>
          <p:cNvSpPr/>
          <p:nvPr/>
        </p:nvSpPr>
        <p:spPr>
          <a:xfrm>
            <a:off x="1417320" y="4389120"/>
            <a:ext cx="4206240" cy="1051560"/>
          </a:xfrm>
          <a:prstGeom prst="rect">
            <a:avLst/>
          </a:prstGeom>
          <a:noFill/>
          <a:ln/>
        </p:spPr>
        <p:txBody>
          <a:bodyPr wrap="square" lIns="0" tIns="0" rIns="0" bIns="0" rtlCol="0" anchor="t"/>
          <a:lstStyle/>
          <a:p>
            <a:pPr marL="0" indent="0">
              <a:buNone/>
            </a:pPr>
            <a:r>
              <a:rPr lang="en-US" sz="2000" dirty="0">
                <a:solidFill>
                  <a:srgbClr val="5B6B8C"/>
                </a:solidFill>
                <a:latin typeface="Cambria" panose="02040503050406030204" pitchFamily="18" charset="0"/>
                <a:ea typeface="Cambria" panose="02040503050406030204" pitchFamily="18" charset="0"/>
                <a:cs typeface="Calibri" pitchFamily="34" charset="-120"/>
              </a:rPr>
              <a:t>Support scanned handwritten notes as a fallback extraction path</a:t>
            </a:r>
            <a:endParaRPr lang="en-US" sz="2000" dirty="0">
              <a:latin typeface="Cambria" panose="02040503050406030204" pitchFamily="18" charset="0"/>
              <a:ea typeface="Cambria" panose="02040503050406030204" pitchFamily="18" charset="0"/>
            </a:endParaRPr>
          </a:p>
        </p:txBody>
      </p:sp>
      <p:sp>
        <p:nvSpPr>
          <p:cNvPr id="21" name="Shape 18"/>
          <p:cNvSpPr>
            <a:spLocks noGrp="1" noRot="1" noMove="1" noResize="1" noEditPoints="1" noAdjustHandles="1" noChangeArrowheads="1" noChangeShapeType="1"/>
          </p:cNvSpPr>
          <p:nvPr/>
        </p:nvSpPr>
        <p:spPr>
          <a:xfrm>
            <a:off x="6309360" y="3749040"/>
            <a:ext cx="5349240" cy="1828800"/>
          </a:xfrm>
          <a:prstGeom prst="roundRect">
            <a:avLst>
              <a:gd name="adj" fmla="val 4000"/>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2" name="Shape 19"/>
          <p:cNvSpPr/>
          <p:nvPr/>
        </p:nvSpPr>
        <p:spPr>
          <a:xfrm>
            <a:off x="6583680" y="4434840"/>
            <a:ext cx="457200" cy="457200"/>
          </a:xfrm>
          <a:prstGeom prst="ellipse">
            <a:avLst/>
          </a:prstGeom>
          <a:solidFill>
            <a:srgbClr val="0E7C86"/>
          </a:solidFill>
          <a:ln/>
        </p:spPr>
        <p:txBody>
          <a:bodyPr/>
          <a:lstStyle/>
          <a:p>
            <a:endParaRPr lang="en-US"/>
          </a:p>
        </p:txBody>
      </p:sp>
      <p:sp>
        <p:nvSpPr>
          <p:cNvPr id="23" name="Text 20"/>
          <p:cNvSpPr/>
          <p:nvPr/>
        </p:nvSpPr>
        <p:spPr>
          <a:xfrm>
            <a:off x="6583680" y="44348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223760" y="4005072"/>
            <a:ext cx="4206240" cy="365760"/>
          </a:xfrm>
          <a:prstGeom prst="rect">
            <a:avLst/>
          </a:prstGeom>
          <a:noFill/>
          <a:ln/>
        </p:spPr>
        <p:txBody>
          <a:bodyPr wrap="square" lIns="0" tIns="0" rIns="0" bIns="0" rtlCol="0" anchor="ctr"/>
          <a:lstStyle/>
          <a:p>
            <a:pPr marL="0" indent="0">
              <a:buNone/>
            </a:pPr>
            <a:r>
              <a:rPr lang="en-US" sz="2400" b="1" dirty="0">
                <a:solidFill>
                  <a:srgbClr val="17213B"/>
                </a:solidFill>
                <a:latin typeface="Cambria" panose="02040503050406030204" pitchFamily="18" charset="0"/>
                <a:ea typeface="Cambria" panose="02040503050406030204" pitchFamily="18" charset="0"/>
                <a:cs typeface="Cambria" pitchFamily="34" charset="-120"/>
              </a:rPr>
              <a:t>Cross-Device State Sync</a:t>
            </a:r>
            <a:endParaRPr lang="en-US" sz="2400" dirty="0">
              <a:latin typeface="Cambria" panose="02040503050406030204" pitchFamily="18" charset="0"/>
              <a:ea typeface="Cambria" panose="02040503050406030204" pitchFamily="18" charset="0"/>
            </a:endParaRPr>
          </a:p>
        </p:txBody>
      </p:sp>
      <p:sp>
        <p:nvSpPr>
          <p:cNvPr id="25" name="Text 22"/>
          <p:cNvSpPr/>
          <p:nvPr/>
        </p:nvSpPr>
        <p:spPr>
          <a:xfrm>
            <a:off x="7223760" y="4389120"/>
            <a:ext cx="4206240" cy="1051560"/>
          </a:xfrm>
          <a:prstGeom prst="rect">
            <a:avLst/>
          </a:prstGeom>
          <a:noFill/>
          <a:ln/>
        </p:spPr>
        <p:txBody>
          <a:bodyPr wrap="square" lIns="0" tIns="0" rIns="0" bIns="0" rtlCol="0" anchor="t"/>
          <a:lstStyle/>
          <a:p>
            <a:pPr marL="0" indent="0">
              <a:buNone/>
            </a:pPr>
            <a:r>
              <a:rPr lang="en-US" sz="2000" dirty="0">
                <a:solidFill>
                  <a:srgbClr val="5B6B8C"/>
                </a:solidFill>
                <a:latin typeface="Cambria" panose="02040503050406030204" pitchFamily="18" charset="0"/>
                <a:ea typeface="Cambria" panose="02040503050406030204" pitchFamily="18" charset="0"/>
                <a:cs typeface="Calibri" pitchFamily="34" charset="-120"/>
              </a:rPr>
              <a:t>Sync pinned notes and folder structure across a student's devices</a:t>
            </a:r>
            <a:endParaRPr lang="en-US" sz="2000" dirty="0">
              <a:latin typeface="Cambria" panose="02040503050406030204" pitchFamily="18" charset="0"/>
              <a:ea typeface="Cambria" panose="02040503050406030204" pitchFamily="18" charset="0"/>
            </a:endParaRPr>
          </a:p>
        </p:txBody>
      </p:sp>
      <p:sp>
        <p:nvSpPr>
          <p:cNvPr id="26" name="Text 2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E2F52"/>
          </a:solidFill>
          <a:ln/>
        </p:spPr>
        <p:txBody>
          <a:bodyPr/>
          <a:lstStyle/>
          <a:p>
            <a:endParaRPr lang="en-US"/>
          </a:p>
        </p:txBody>
      </p:sp>
      <p:sp>
        <p:nvSpPr>
          <p:cNvPr id="3" name="Shape 1"/>
          <p:cNvSpPr/>
          <p:nvPr/>
        </p:nvSpPr>
        <p:spPr>
          <a:xfrm>
            <a:off x="-1645920" y="4389120"/>
            <a:ext cx="3840480" cy="3840480"/>
          </a:xfrm>
          <a:prstGeom prst="ellipse">
            <a:avLst/>
          </a:prstGeom>
          <a:solidFill>
            <a:srgbClr val="1E2F52"/>
          </a:solidFill>
          <a:ln/>
        </p:spPr>
        <p:txBody>
          <a:bodyPr/>
          <a:lstStyle/>
          <a:p>
            <a:endParaRPr lang="en-US"/>
          </a:p>
        </p:txBody>
      </p:sp>
      <p:sp>
        <p:nvSpPr>
          <p:cNvPr id="4" name="Shape 2"/>
          <p:cNvSpPr/>
          <p:nvPr/>
        </p:nvSpPr>
        <p:spPr>
          <a:xfrm>
            <a:off x="5637276" y="1737360"/>
            <a:ext cx="914400" cy="914400"/>
          </a:xfrm>
          <a:prstGeom prst="ellipse">
            <a:avLst/>
          </a:prstGeom>
          <a:solidFill>
            <a:srgbClr val="1E2F52"/>
          </a:solidFill>
          <a:ln/>
        </p:spPr>
        <p:txBody>
          <a:bodyPr/>
          <a:lstStyle/>
          <a:p>
            <a:endParaRPr lang="en-US"/>
          </a:p>
        </p:txBody>
      </p:sp>
      <p:pic>
        <p:nvPicPr>
          <p:cNvPr id="5" name="Image 0" descr="icons/comment_amber.png"/>
          <p:cNvPicPr>
            <a:picLocks noChangeAspect="1"/>
          </p:cNvPicPr>
          <p:nvPr/>
        </p:nvPicPr>
        <p:blipFill>
          <a:blip r:embed="rId3"/>
          <a:stretch>
            <a:fillRect/>
          </a:stretch>
        </p:blipFill>
        <p:spPr>
          <a:xfrm>
            <a:off x="5875020" y="1975104"/>
            <a:ext cx="438912" cy="438912"/>
          </a:xfrm>
          <a:prstGeom prst="rect">
            <a:avLst/>
          </a:prstGeom>
        </p:spPr>
      </p:pic>
      <p:sp>
        <p:nvSpPr>
          <p:cNvPr id="6" name="Text 3"/>
          <p:cNvSpPr/>
          <p:nvPr/>
        </p:nvSpPr>
        <p:spPr>
          <a:xfrm>
            <a:off x="822960" y="2926080"/>
            <a:ext cx="10515600" cy="68580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7" name="Text 4"/>
          <p:cNvSpPr/>
          <p:nvPr/>
        </p:nvSpPr>
        <p:spPr>
          <a:xfrm>
            <a:off x="822960" y="3703320"/>
            <a:ext cx="10515600" cy="365760"/>
          </a:xfrm>
          <a:prstGeom prst="rect">
            <a:avLst/>
          </a:prstGeom>
          <a:noFill/>
          <a:ln/>
        </p:spPr>
        <p:txBody>
          <a:bodyPr wrap="square" lIns="0" tIns="0" rIns="0" bIns="0" rtlCol="0" anchor="ctr"/>
          <a:lstStyle/>
          <a:p>
            <a:pPr marL="0" indent="0" algn="ctr">
              <a:buNone/>
            </a:pPr>
            <a:r>
              <a:rPr lang="en-US" sz="2000" dirty="0">
                <a:solidFill>
                  <a:srgbClr val="9FB0CE"/>
                </a:solidFill>
                <a:latin typeface="Cambria" panose="02040503050406030204" pitchFamily="18" charset="0"/>
                <a:ea typeface="Cambria" panose="02040503050406030204" pitchFamily="18" charset="0"/>
                <a:cs typeface="Calibri" pitchFamily="34" charset="-120"/>
              </a:rPr>
              <a:t>StudyVault — Group 20</a:t>
            </a:r>
            <a:endParaRPr lang="en-US" sz="2000" dirty="0">
              <a:latin typeface="Cambria" panose="02040503050406030204" pitchFamily="18" charset="0"/>
              <a:ea typeface="Cambria" panose="02040503050406030204" pitchFamily="18" charset="0"/>
            </a:endParaRPr>
          </a:p>
        </p:txBody>
      </p:sp>
      <p:sp>
        <p:nvSpPr>
          <p:cNvPr id="8" name="Text 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FB0CE"/>
                </a:solidFill>
                <a:latin typeface="Calibri" pitchFamily="34" charset="0"/>
                <a:ea typeface="Calibri" pitchFamily="34" charset="-122"/>
                <a:cs typeface="Calibri" pitchFamily="34" charset="-120"/>
              </a:rPr>
              <a:t>15</a:t>
            </a:r>
            <a:endParaRPr lang="en-US" sz="1000" dirty="0"/>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1806</Words>
  <Application>Microsoft Office PowerPoint</Application>
  <PresentationFormat>Widescreen</PresentationFormat>
  <Paragraphs>202</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StudyVault Viva Presentation</dc:title>
  <dc:subject>PptxGenJS Presentation</dc:subject>
  <dc:creator>Group 20</dc:creator>
  <cp:lastModifiedBy>M.A.O. RODRIGO</cp:lastModifiedBy>
  <cp:revision>9</cp:revision>
  <dcterms:created xsi:type="dcterms:W3CDTF">2026-07-06T06:09:19Z</dcterms:created>
  <dcterms:modified xsi:type="dcterms:W3CDTF">2026-07-10T11:40:34Z</dcterms:modified>
</cp:coreProperties>
</file>